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645920"/>
            <a:ext cx="73152" cy="3657600"/>
          </a:xfrm>
          <a:prstGeom prst="rect">
            <a:avLst/>
          </a:prstGeom>
          <a:solidFill>
            <a:srgbClr val="5D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7315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0" b="1">
                <a:solidFill>
                  <a:srgbClr val="F4F5F8"/>
                </a:solidFill>
                <a:latin typeface="Space Grotesk"/>
              </a:rPr>
              <a:t>POLARIS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5DE3F5"/>
                </a:solidFill>
                <a:latin typeface="Space Grotesk"/>
              </a:rPr>
              <a:t>PITCH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1480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8BCC9"/>
                </a:solidFill>
                <a:latin typeface="Space Grotesk"/>
              </a:rPr>
              <a:t>From SOC 2 PDF to live AI guardrail in 60 seconds.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7091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E8499"/>
                </a:solidFill>
                <a:latin typeface="JetBrains Mono"/>
              </a:rPr>
              <a:t>MAY 2026  ·  AI &amp; BIG DATA EXPO  ·  SAN JOSE</a:t>
            </a:r>
          </a:p>
        </p:txBody>
      </p:sp>
      <p:pic>
        <p:nvPicPr>
          <p:cNvPr id="9" name="Picture 8" descr="demo_thumbn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463040"/>
            <a:ext cx="5029200" cy="19514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AA8C7"/>
                </a:solidFill>
                <a:latin typeface="JetBrains Mono"/>
              </a:rPr>
              <a:t>Live: polaris--lucaslootan.replit.app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solidFill>
            <a:srgbClr val="13161F"/>
          </a:solidFill>
          <a:ln w="6350">
            <a:solidFill>
              <a:srgbClr val="1AA8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4552" cy="73152"/>
          </a:xfrm>
          <a:prstGeom prst="rect">
            <a:avLst/>
          </a:prstGeom>
          <a:solidFill>
            <a:srgbClr val="5D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5DE3F5"/>
                </a:solidFill>
                <a:latin typeface="JetBrains Mono"/>
              </a:rPr>
              <a:t>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>
                <a:solidFill>
                  <a:srgbClr val="F4F5F8"/>
                </a:solidFill>
                <a:latin typeface="Space Grotesk"/>
              </a:rPr>
              <a:t>Compile compliance documents</a:t>
            </a:r>
          </a:p>
          <a:p>
            <a:pPr algn="ctr">
              <a:lnSpc>
                <a:spcPct val="105000"/>
              </a:lnSpc>
            </a:pPr>
            <a:r>
              <a:rPr sz="5400" b="1">
                <a:solidFill>
                  <a:srgbClr val="F4F5F8"/>
                </a:solidFill>
                <a:latin typeface="Space Grotesk"/>
              </a:rPr>
              <a:t>into running AI firewalls.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5DE3F5"/>
                </a:solidFill>
                <a:latin typeface="Space Grotesk"/>
              </a:rPr>
              <a:t>At AI speed.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94960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B8BCC9"/>
                </a:solidFill>
                <a:latin typeface="Space Grotesk"/>
              </a:rPr>
              <a:t>Polaris is the only end-to-end loop from compliance PDF → deployed runtime policy → continuous adversarial verification.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4F5F8"/>
                </a:solidFill>
                <a:latin typeface="Space Grotesk"/>
              </a:rPr>
              <a:t>A 4-agent closed loop that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F4F5F8"/>
                </a:solidFill>
                <a:latin typeface="Space Grotesk"/>
              </a:rPr>
              <a:t>compiles compliance into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F4F5F8"/>
                </a:solidFill>
                <a:latin typeface="Space Grotesk"/>
              </a:rPr>
              <a:t>runtime enforcement.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280160"/>
            <a:ext cx="4572000" cy="228600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4173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HIGHLIGHTS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83080"/>
            <a:ext cx="4297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5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050">
                <a:solidFill>
                  <a:srgbClr val="B8BCC9"/>
                </a:solidFill>
                <a:latin typeface="Space Grotesk"/>
              </a:rPr>
              <a:t>Compiles SOC 2 / HIPAA / EU AI Act / PCI-DSS PDFs into deployable Lobster Trap YAML in ~11s (60s SLA).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5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050">
                <a:solidFill>
                  <a:srgbClr val="B8BCC9"/>
                </a:solidFill>
                <a:latin typeface="Space Grotesk"/>
              </a:rPr>
              <a:t>Red Team agent continuously stress-tests deployed policy; auto-patches on gap.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5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050">
                <a:solidFill>
                  <a:srgbClr val="B8BCC9"/>
                </a:solidFill>
                <a:latin typeface="Space Grotesk"/>
              </a:rPr>
              <a:t>Audit-defensible chain of custody mapped to SOC 2 CC8.1.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3703320"/>
            <a:ext cx="4572000" cy="137160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840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INDUSTRY &amp;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16052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8BCC9"/>
                </a:solidFill>
                <a:latin typeface="Space Grotesk"/>
              </a:rPr>
              <a:t>Enterprise AI Trust, Risk &amp; Security Management (TRiSM)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4348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5DE3F5"/>
                </a:solidFill>
                <a:latin typeface="Space Grotesk"/>
              </a:rPr>
              <a:t>$2.34B → $7.44B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84632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E8499"/>
                </a:solidFill>
                <a:latin typeface="JetBrains Mono"/>
              </a:rPr>
              <a:t>2024 → 2030  ·  21.6% CAGR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80560"/>
            <a:ext cx="6400800" cy="182880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4F5F8"/>
                </a:solidFill>
                <a:latin typeface="Space Grotesk"/>
              </a:rPr>
              <a:t>Lucas Loo Tan Yu Heng — Founder &amp; Lead AI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6126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B8BCC9"/>
                </a:solidFill>
                <a:latin typeface="Space Grotesk"/>
              </a:rPr>
              <a:t>Day job: Hoppi (M) Sdn Bhd — Hotseller V5 (25+ orchestrated Gemini agents in production).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0" y="5212080"/>
            <a:ext cx="4572000" cy="109728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53492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HERO METRIC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62356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60s SLA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5650992"/>
            <a:ext cx="274320" cy="164592"/>
          </a:xfrm>
          <a:prstGeom prst="rect">
            <a:avLst/>
          </a:prstGeom>
          <a:solidFill>
            <a:srgbClr val="1AA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560527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11s actual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594360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F25C5C"/>
                </a:solidFill>
                <a:latin typeface="JetBrains Mono"/>
              </a:rPr>
              <a:t>vs status quo: 3 weeks of legal review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5971032"/>
            <a:ext cx="2743200" cy="164592"/>
          </a:xfrm>
          <a:prstGeom prst="rect">
            <a:avLst/>
          </a:prstGeom>
          <a:solidFill>
            <a:srgbClr val="F2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Grand View Research · grandviewresearch.com/press-release/global-ai-trust-risk-security-management-market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25C5C"/>
                </a:solidFill>
                <a:latin typeface="JetBrains Mono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120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4F5F8"/>
                </a:solidFill>
                <a:latin typeface="Space Grotesk"/>
              </a:rPr>
              <a:t>Compliance lives in PDFs.</a:t>
            </a:r>
          </a:p>
          <a:p>
            <a:pPr algn="l">
              <a:lnSpc>
                <a:spcPct val="105000"/>
              </a:lnSpc>
            </a:pPr>
            <a:r>
              <a:rPr sz="2000" b="1">
                <a:solidFill>
                  <a:srgbClr val="F4F5F8"/>
                </a:solidFill>
                <a:latin typeface="Space Grotesk"/>
              </a:rPr>
              <a:t>AI agents run in production.</a:t>
            </a:r>
          </a:p>
          <a:p>
            <a:pPr algn="l">
              <a:lnSpc>
                <a:spcPct val="105000"/>
              </a:lnSpc>
            </a:pPr>
            <a:r>
              <a:rPr sz="2000" b="1">
                <a:solidFill>
                  <a:srgbClr val="F4F5F8"/>
                </a:solidFill>
                <a:latin typeface="Space Grotesk"/>
              </a:rPr>
              <a:t>The wire between is hand-written.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51206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200" b="1">
                <a:solidFill>
                  <a:srgbClr val="F25C5C"/>
                </a:solidFill>
                <a:latin typeface="JetBrains Mono"/>
              </a:rPr>
              <a:t>▸  </a:t>
            </a:r>
            <a:r>
              <a:rPr sz="1200">
                <a:solidFill>
                  <a:srgbClr val="B8BCC9"/>
                </a:solidFill>
                <a:latin typeface="Space Grotesk"/>
              </a:rPr>
              <a:t>23% of enterprises scaling AI agents; 39% experimenting. (McKinsey State of AI 2025)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200" b="1">
                <a:solidFill>
                  <a:srgbClr val="F25C5C"/>
                </a:solidFill>
                <a:latin typeface="JetBrains Mono"/>
              </a:rPr>
              <a:t>▸  </a:t>
            </a:r>
            <a:r>
              <a:rPr sz="1200">
                <a:solidFill>
                  <a:srgbClr val="B8BCC9"/>
                </a:solidFill>
                <a:latin typeface="Space Grotesk"/>
              </a:rPr>
              <a:t>233 AI security incidents in 2024 → 362 in 2025, +55% YoY. (Stanford HAI AI Index)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200" b="1">
                <a:solidFill>
                  <a:srgbClr val="F25C5C"/>
                </a:solidFill>
                <a:latin typeface="JetBrains Mono"/>
              </a:rPr>
              <a:t>▸  </a:t>
            </a:r>
            <a:r>
              <a:rPr sz="1200">
                <a:solidFill>
                  <a:srgbClr val="B8BCC9"/>
                </a:solidFill>
                <a:latin typeface="Space Grotesk"/>
              </a:rPr>
              <a:t>Median compliance / business-formation counsel: $378 / hr. (Clio Legal Trends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914400"/>
            <a:ext cx="5486400" cy="5394960"/>
          </a:xfrm>
          <a:prstGeom prst="rect">
            <a:avLst/>
          </a:prstGeom>
          <a:solidFill>
            <a:srgbClr val="1B202A"/>
          </a:solidFill>
          <a:ln w="9525">
            <a:solidFill>
              <a:srgbClr val="1AA8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914400"/>
            <a:ext cx="5486400" cy="54864"/>
          </a:xfrm>
          <a:prstGeom prst="rect">
            <a:avLst/>
          </a:prstGeom>
          <a:solidFill>
            <a:srgbClr val="5D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143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WHY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5120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4F5F8"/>
                </a:solidFill>
                <a:latin typeface="Space Grotesk"/>
              </a:rPr>
              <a:t>Regulators are catching up.</a:t>
            </a:r>
          </a:p>
          <a:p>
            <a:pPr algn="l">
              <a:lnSpc>
                <a:spcPct val="105000"/>
              </a:lnSpc>
            </a:pPr>
            <a:r>
              <a:rPr sz="2000" b="1">
                <a:solidFill>
                  <a:srgbClr val="F4F5F8"/>
                </a:solidFill>
                <a:latin typeface="Space Grotesk"/>
              </a:rPr>
              <a:t>Every enterprise running an</a:t>
            </a:r>
          </a:p>
          <a:p>
            <a:pPr algn="l">
              <a:lnSpc>
                <a:spcPct val="105000"/>
              </a:lnSpc>
            </a:pPr>
            <a:r>
              <a:rPr sz="2000" b="1">
                <a:solidFill>
                  <a:srgbClr val="F4F5F8"/>
                </a:solidFill>
                <a:latin typeface="Space Grotesk"/>
              </a:rPr>
              <a:t>AI agent is non-conformant</a:t>
            </a:r>
          </a:p>
          <a:p>
            <a:pPr algn="l">
              <a:lnSpc>
                <a:spcPct val="105000"/>
              </a:lnSpc>
            </a:pPr>
            <a:r>
              <a:rPr sz="2000" b="1">
                <a:solidFill>
                  <a:srgbClr val="F4F5F8"/>
                </a:solidFill>
                <a:latin typeface="Space Grotesk"/>
              </a:rPr>
              <a:t>by default.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749039"/>
            <a:ext cx="51206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5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050">
                <a:solidFill>
                  <a:srgbClr val="B8BCC9"/>
                </a:solidFill>
                <a:latin typeface="Space Grotesk"/>
              </a:rPr>
              <a:t>EU AI Act high-risk obligations: 2 Aug 2026 statutory. Digital Omnibus (7 May 2026) defers Annex III to 2 Dec 2027 — not yet enacted.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5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050">
                <a:solidFill>
                  <a:srgbClr val="B8BCC9"/>
                </a:solidFill>
                <a:latin typeface="Space Grotesk"/>
              </a:rPr>
              <a:t>Colorado AI Act (SB24-205): postponed to 30 Jun 2026; enforcement currently stayed pending federal litigation.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5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050">
                <a:solidFill>
                  <a:srgbClr val="B8BCC9"/>
                </a:solidFill>
                <a:latin typeface="Space Grotesk"/>
              </a:rPr>
              <a:t>NIST AI RMF 1.0 — voluntary framework, Jan 2023.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5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050">
                <a:solidFill>
                  <a:srgbClr val="B8BCC9"/>
                </a:solidFill>
                <a:latin typeface="Space Grotesk"/>
              </a:rPr>
              <a:t>OWASP LLM Top 10 v1.1 — prompt injection ranked #1.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mckinsey.com/state-of-ai  ·  hai.stanford.edu/ai-index  ·  clio.com/resources/legal-trends  ·  artificialintelligenceact.eu  ·  leg.colorado.gov/bills/sb24-205  ·  nist.gov · owasp.org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430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4F5F8"/>
                </a:solidFill>
                <a:latin typeface="Space Grotesk"/>
              </a:rPr>
              <a:t>Polaris compiles compliance documents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F4F5F8"/>
                </a:solidFill>
                <a:latin typeface="Space Grotesk"/>
              </a:rPr>
              <a:t>into runtime AI guardrails — and verifies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974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DE3F5"/>
                </a:solidFill>
                <a:latin typeface="Space Grotesk"/>
              </a:rPr>
              <a:t>Four Gemini agents. One Veea Lobster Trap firewall. One closed loop.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567" y="3383280"/>
            <a:ext cx="3657600" cy="320040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6567" y="3383280"/>
            <a:ext cx="3657600" cy="54864"/>
          </a:xfrm>
          <a:prstGeom prst="rect">
            <a:avLst/>
          </a:prstGeom>
          <a:solidFill>
            <a:srgbClr val="5D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887" y="36576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DE3F5"/>
                </a:solidFill>
                <a:latin typeface="JetBrains Mono"/>
              </a:rPr>
              <a:t>READER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887" y="4114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E8499"/>
                </a:solidFill>
                <a:latin typeface="JetBrains Mono"/>
              </a:rPr>
              <a:t>gemini-3.1-flash-lite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887" y="4663440"/>
            <a:ext cx="3108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B8BCC9"/>
                </a:solidFill>
                <a:latin typeface="Space Grotesk"/>
              </a:rPr>
              <a:t>Extracts compliance requirements from PDF 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887" y="60350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DE3F5"/>
                </a:solidFill>
                <a:latin typeface="JetBrains Mono"/>
              </a:rPr>
              <a:t>~3s per doc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7047" y="3383280"/>
            <a:ext cx="3657600" cy="320040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7047" y="3383280"/>
            <a:ext cx="3657600" cy="54864"/>
          </a:xfrm>
          <a:prstGeom prst="rect">
            <a:avLst/>
          </a:prstGeom>
          <a:solidFill>
            <a:srgbClr val="3DD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1367" y="36576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DD9A0"/>
                </a:solidFill>
                <a:latin typeface="JetBrains Mono"/>
              </a:rPr>
              <a:t>SYNTHESIZER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367" y="4114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E8499"/>
                </a:solidFill>
                <a:latin typeface="JetBrains Mono"/>
              </a:rPr>
              <a:t>gemini-3.1-flash-lite + thinking_level=low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4663440"/>
            <a:ext cx="3108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B8BCC9"/>
                </a:solidFill>
                <a:latin typeface="Space Grotesk"/>
              </a:rPr>
              <a:t>Schema-first synthesis: passes LobsterTrapPolicy Pydantic class as response_schema.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60350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DD9A0"/>
                </a:solidFill>
                <a:latin typeface="JetBrains Mono"/>
              </a:rPr>
              <a:t>~4.6s median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07527" y="3383280"/>
            <a:ext cx="3657600" cy="320040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7527" y="3383280"/>
            <a:ext cx="3657600" cy="54864"/>
          </a:xfrm>
          <a:prstGeom prst="rect">
            <a:avLst/>
          </a:prstGeom>
          <a:solidFill>
            <a:srgbClr val="F5C2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1847" y="36576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C25E"/>
                </a:solidFill>
                <a:latin typeface="JetBrains Mono"/>
              </a:rPr>
              <a:t>RED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847" y="4114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E8499"/>
                </a:solidFill>
                <a:latin typeface="JetBrains Mono"/>
              </a:rPr>
              <a:t>gemini-3.1-pro-preview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847" y="4663440"/>
            <a:ext cx="3108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B8BCC9"/>
                </a:solidFill>
                <a:latin typeface="Space Grotesk"/>
              </a:rPr>
              <a:t>Generates adversarial probes; triggers Synthesizer regeneration on gap.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60350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C25E"/>
                </a:solidFill>
                <a:latin typeface="JetBrains Mono"/>
              </a:rPr>
              <a:t>~10s / round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ai.google.dev/gemini-api/docs/pricing  ·  github.com/veeainc/lobstertrap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PRODUCT · LIVE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943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4F5F8"/>
                </a:solidFill>
                <a:latin typeface="Space Grotesk"/>
              </a:rPr>
              <a:t>Drag-drop.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4F5F8"/>
                </a:solidFill>
                <a:latin typeface="Space Grotesk"/>
              </a:rPr>
              <a:t>11 seconds.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4F5F8"/>
                </a:solidFill>
                <a:latin typeface="Space Grotesk"/>
              </a:rPr>
              <a:t>Live firewall.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5760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8BCC9"/>
                </a:solidFill>
                <a:latin typeface="Space Grotesk"/>
              </a:rPr>
              <a:t>Phase-9 schema-first Synthesizer cuts latency 5× while tying with the larger Pro model on intrinsic accuracy (6.0/11 LT corpus). Same architectural pattern shipped at scale in Hoppi's Hotseller V5 (25+ orchestrated agents).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5349240" cy="3931920"/>
          </a:xfrm>
          <a:prstGeom prst="rect">
            <a:avLst/>
          </a:prstGeom>
          <a:solidFill>
            <a:srgbClr val="13161F"/>
          </a:solidFill>
          <a:ln w="9525">
            <a:solidFill>
              <a:srgbClr val="1AA8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thumbn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5166360" cy="20046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Source: docs/MODEL_BAKEOFF.md (48-run model bake-off, Phase 9, 2026-05-13)  ·  github.com/seekerPrice/polaris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solidFill>
            <a:srgbClr val="13161F"/>
          </a:solidFill>
          <a:ln w="6350">
            <a:solidFill>
              <a:srgbClr val="1AA8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4552" cy="73152"/>
          </a:xfrm>
          <a:prstGeom prst="rect">
            <a:avLst/>
          </a:prstGeom>
          <a:solidFill>
            <a:srgbClr val="5D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DE3F5"/>
                </a:solidFill>
                <a:latin typeface="JetBrains Mono"/>
              </a:rPr>
              <a:t>THE 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4F5F8"/>
                </a:solidFill>
                <a:latin typeface="Space Grotesk"/>
              </a:rPr>
              <a:t>This loop closes itself.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7463" y="2743200"/>
            <a:ext cx="2011680" cy="2194560"/>
          </a:xfrm>
          <a:prstGeom prst="rect">
            <a:avLst/>
          </a:prstGeom>
          <a:solidFill>
            <a:srgbClr val="1B202A"/>
          </a:solidFill>
          <a:ln w="12700">
            <a:solidFill>
              <a:srgbClr val="5DE3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343" y="29718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5DE3F5"/>
                </a:solidFill>
                <a:latin typeface="JetBrains Mon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343" y="361188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4F5F8"/>
                </a:solidFill>
                <a:latin typeface="Space Grotesk"/>
              </a:rPr>
              <a:t>Reader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343" y="411480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8BCC9"/>
                </a:solidFill>
                <a:latin typeface="JetBrains Mono"/>
              </a:rPr>
              <a:t>~3s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9143" y="3611880"/>
            <a:ext cx="164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AA8C7"/>
                </a:solidFill>
                <a:latin typeface="JetBrains Mono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13735" y="2743200"/>
            <a:ext cx="2011680" cy="2194560"/>
          </a:xfrm>
          <a:prstGeom prst="rect">
            <a:avLst/>
          </a:prstGeom>
          <a:solidFill>
            <a:srgbClr val="1B202A"/>
          </a:solidFill>
          <a:ln w="12700">
            <a:solidFill>
              <a:srgbClr val="3DD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6615" y="29718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3DD9A0"/>
                </a:solidFill>
                <a:latin typeface="JetBrains Mon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6615" y="361188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4F5F8"/>
                </a:solidFill>
                <a:latin typeface="Space Grotesk"/>
              </a:rPr>
              <a:t>Synthesizer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615" y="411480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8BCC9"/>
                </a:solidFill>
                <a:latin typeface="JetBrains Mono"/>
              </a:rPr>
              <a:t>4.6s · schema-first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5415" y="3611880"/>
            <a:ext cx="164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AA8C7"/>
                </a:solidFill>
                <a:latin typeface="JetBrains Mono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90007" y="2743200"/>
            <a:ext cx="2011680" cy="2194560"/>
          </a:xfrm>
          <a:prstGeom prst="rect">
            <a:avLst/>
          </a:prstGeom>
          <a:solidFill>
            <a:srgbClr val="1B202A"/>
          </a:solidFill>
          <a:ln w="12700">
            <a:solidFill>
              <a:srgbClr val="A0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2887" y="29718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A077FF"/>
                </a:solidFill>
                <a:latin typeface="JetBrains Mon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2887" y="361188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4F5F8"/>
                </a:solidFill>
                <a:latin typeface="Space Grotesk"/>
              </a:rPr>
              <a:t>Validation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2887" y="411480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8BCC9"/>
                </a:solidFill>
                <a:latin typeface="JetBrains Mono"/>
              </a:rPr>
              <a:t>11/11 LT corpus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1687" y="3611880"/>
            <a:ext cx="164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AA8C7"/>
                </a:solidFill>
                <a:latin typeface="JetBrains Mono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6279" y="2743200"/>
            <a:ext cx="2011680" cy="2194560"/>
          </a:xfrm>
          <a:prstGeom prst="rect">
            <a:avLst/>
          </a:prstGeom>
          <a:solidFill>
            <a:srgbClr val="1B202A"/>
          </a:solidFill>
          <a:ln w="12700">
            <a:solidFill>
              <a:srgbClr val="F5C2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49159" y="29718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5C25E"/>
                </a:solidFill>
                <a:latin typeface="JetBrains Mon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9159" y="361188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4F5F8"/>
                </a:solidFill>
                <a:latin typeface="Space Grotesk"/>
              </a:rPr>
              <a:t>Lobster Trap DPI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9159" y="411480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8BCC9"/>
                </a:solidFill>
                <a:latin typeface="JetBrains Mono"/>
              </a:rPr>
              <a:t>_lobstertrap intent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7959" y="3611880"/>
            <a:ext cx="164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AA8C7"/>
                </a:solidFill>
                <a:latin typeface="JetBrains Mono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551" y="2743200"/>
            <a:ext cx="2011680" cy="2194560"/>
          </a:xfrm>
          <a:prstGeom prst="rect">
            <a:avLst/>
          </a:prstGeom>
          <a:solidFill>
            <a:srgbClr val="1B202A"/>
          </a:solidFill>
          <a:ln w="12700">
            <a:solidFill>
              <a:srgbClr val="F2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5431" y="29718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25C5C"/>
                </a:solidFill>
                <a:latin typeface="JetBrains Mon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5431" y="361188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4F5F8"/>
                </a:solidFill>
                <a:latin typeface="Space Grotesk"/>
              </a:rPr>
              <a:t>Red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5431" y="411480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8BCC9"/>
                </a:solidFill>
                <a:latin typeface="JetBrains Mono"/>
              </a:rPr>
              <a:t>~10s · auto-patch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DE3F5"/>
                </a:solidFill>
                <a:latin typeface="JetBrains Mono"/>
              </a:rPr>
              <a:t>↻  Synthesizer regenerates on gap → hot-reload → same probe now blocked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7E8499"/>
                </a:solidFill>
                <a:latin typeface="Space Grotesk"/>
              </a:rPr>
              <a:t>Lobster Trap _lobstertrap declared-vs-detected mismatches feed the Red Team — humans on the audit trail.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Source: github.com/veeainc/lobstertrap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4F5F8"/>
                </a:solidFill>
                <a:latin typeface="Space Grotesk"/>
              </a:rPr>
              <a:t>A $7.44B market,</a:t>
            </a:r>
          </a:p>
          <a:p>
            <a:pPr algn="l">
              <a:lnSpc>
                <a:spcPct val="105000"/>
              </a:lnSpc>
            </a:pPr>
            <a:r>
              <a:rPr sz="3000" b="1">
                <a:solidFill>
                  <a:srgbClr val="F4F5F8"/>
                </a:solidFill>
                <a:latin typeface="Space Grotesk"/>
              </a:rPr>
              <a:t>expanding 21.6% per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889504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4F5F8"/>
                </a:solidFill>
                <a:latin typeface="Space Grotesk"/>
              </a:rPr>
              <a:t>$7.44B by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6217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8BCC9"/>
                </a:solidFill>
                <a:latin typeface="Space Grotesk"/>
              </a:rPr>
              <a:t>Global AI TRiSM. $2.34B (2024) → $7.44B at 21.6% CAGR. (Grand View Research, 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758184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4F5F8"/>
                </a:solidFill>
                <a:latin typeface="Space Grotesk"/>
              </a:rPr>
              <a:t>Billion-dollar (Gartner Feb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78808"/>
            <a:ext cx="6217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8BCC9"/>
                </a:solidFill>
                <a:latin typeface="Space Grotesk"/>
              </a:rPr>
              <a:t>AI governance platforms. Precedence: $309M → $3.59B by 2033 at 36% CAGR.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626864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4F5F8"/>
                </a:solidFill>
                <a:latin typeface="Space Grotesk"/>
              </a:rPr>
              <a:t>$740M serviceable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47488"/>
            <a:ext cx="6217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8BCC9"/>
                </a:solidFill>
                <a:latin typeface="Space Grotesk"/>
              </a:rPr>
              <a:t>US SOC 2 / HIPAA enterprises with AI agents in production (subset of 822k HIPAA-covered + 1M associates × 23% McKinsey AI-in-prod rate).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321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ENTRY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495544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4F5F8"/>
                </a:solidFill>
                <a:latin typeface="Space Grotesk"/>
              </a:rPr>
              <a:t>$74M ARR potential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16168"/>
            <a:ext cx="6217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8BCC9"/>
                </a:solidFill>
                <a:latin typeface="Space Grotesk"/>
              </a:rPr>
              <a:t>1% capture × $500–$2,499 / mo / policy ARPU.</a:t>
            </a:r>
          </a:p>
        </p:txBody>
      </p:sp>
      <p:sp>
        <p:nvSpPr>
          <p:cNvPr id="18" name="Oval 17"/>
          <p:cNvSpPr/>
          <p:nvPr/>
        </p:nvSpPr>
        <p:spPr>
          <a:xfrm>
            <a:off x="6629400" y="1600200"/>
            <a:ext cx="5029200" cy="5029200"/>
          </a:xfrm>
          <a:prstGeom prst="ellipse">
            <a:avLst/>
          </a:prstGeom>
          <a:solidFill>
            <a:srgbClr val="13161F"/>
          </a:solidFill>
          <a:ln w="9525">
            <a:solidFill>
              <a:srgbClr val="1AA8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2402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>
                <a:solidFill>
                  <a:srgbClr val="F4F5F8"/>
                </a:solidFill>
                <a:latin typeface="JetBrains Mono"/>
              </a:rPr>
              <a:t>TAM</a:t>
            </a:r>
          </a:p>
          <a:p>
            <a:pPr algn="ctr">
              <a:lnSpc>
                <a:spcPct val="105000"/>
              </a:lnSpc>
            </a:pPr>
            <a:r>
              <a:rPr sz="900" b="1">
                <a:solidFill>
                  <a:srgbClr val="F4F5F8"/>
                </a:solidFill>
                <a:latin typeface="JetBrains Mono"/>
              </a:rPr>
              <a:t>$7.44B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0" y="2286000"/>
            <a:ext cx="3657600" cy="3657600"/>
          </a:xfrm>
          <a:prstGeom prst="ellipse">
            <a:avLst/>
          </a:prstGeom>
          <a:solidFill>
            <a:srgbClr val="1B202A"/>
          </a:solidFill>
          <a:ln w="9525">
            <a:solidFill>
              <a:srgbClr val="1AA8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3566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>
                <a:solidFill>
                  <a:srgbClr val="F4F5F8"/>
                </a:solidFill>
                <a:latin typeface="JetBrains Mono"/>
              </a:rPr>
              <a:t>SAM</a:t>
            </a:r>
          </a:p>
          <a:p>
            <a:pPr algn="ctr">
              <a:lnSpc>
                <a:spcPct val="105000"/>
              </a:lnSpc>
            </a:pPr>
            <a:r>
              <a:rPr sz="900" b="1">
                <a:solidFill>
                  <a:srgbClr val="F4F5F8"/>
                </a:solidFill>
                <a:latin typeface="JetBrains Mono"/>
              </a:rPr>
              <a:t>$3.6B</a:t>
            </a:r>
          </a:p>
        </p:txBody>
      </p:sp>
      <p:sp>
        <p:nvSpPr>
          <p:cNvPr id="22" name="Oval 21"/>
          <p:cNvSpPr/>
          <p:nvPr/>
        </p:nvSpPr>
        <p:spPr>
          <a:xfrm>
            <a:off x="8001000" y="2971800"/>
            <a:ext cx="2286000" cy="2286000"/>
          </a:xfrm>
          <a:prstGeom prst="ellipse">
            <a:avLst/>
          </a:prstGeom>
          <a:solidFill>
            <a:srgbClr val="1AA8C7"/>
          </a:solidFill>
          <a:ln w="9525">
            <a:solidFill>
              <a:srgbClr val="5DE3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8006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>
                <a:solidFill>
                  <a:srgbClr val="F4F5F8"/>
                </a:solidFill>
                <a:latin typeface="JetBrains Mono"/>
              </a:rPr>
              <a:t>TARGET</a:t>
            </a:r>
          </a:p>
          <a:p>
            <a:pPr algn="ctr">
              <a:lnSpc>
                <a:spcPct val="105000"/>
              </a:lnSpc>
            </a:pPr>
            <a:r>
              <a:rPr sz="900" b="1">
                <a:solidFill>
                  <a:srgbClr val="F4F5F8"/>
                </a:solidFill>
                <a:latin typeface="JetBrains Mono"/>
              </a:rPr>
              <a:t>$740M</a:t>
            </a:r>
          </a:p>
        </p:txBody>
      </p:sp>
      <p:sp>
        <p:nvSpPr>
          <p:cNvPr id="24" name="Oval 23"/>
          <p:cNvSpPr/>
          <p:nvPr/>
        </p:nvSpPr>
        <p:spPr>
          <a:xfrm>
            <a:off x="8595360" y="3566160"/>
            <a:ext cx="1097280" cy="1097280"/>
          </a:xfrm>
          <a:prstGeom prst="ellipse">
            <a:avLst/>
          </a:prstGeom>
          <a:solidFill>
            <a:srgbClr val="5DE3F5"/>
          </a:solidFill>
          <a:ln w="9525">
            <a:solidFill>
              <a:srgbClr val="0B0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598932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0B0D14"/>
                </a:solidFill>
                <a:latin typeface="JetBrains Mono"/>
              </a:rPr>
              <a:t>$74M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grandviewresearch.com · gartner.com (Feb 2026 PR)  ·  precedenceresearch.com  ·  mckinsey.com/state-of-ai  ·  hhs.gov/hipaa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4F5F8"/>
                </a:solidFill>
                <a:latin typeface="Space Grotesk"/>
              </a:rPr>
              <a:t>Polaris is the only end-to-end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F4F5F8"/>
                </a:solidFill>
                <a:latin typeface="Space Grotesk"/>
              </a:rPr>
              <a:t>PDF → Deploy → Verify → Patch loop.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92608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463040"/>
                <a:gridCol w="1280160"/>
                <a:gridCol w="1280160"/>
                <a:gridCol w="1828800"/>
                <a:gridCol w="1920240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Capability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Polaris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MS Purview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AI Hub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Lakera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Guard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F5 AI Guardrails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(ex-CalypsoAI)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Cisco AI Defense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(ex-Robust Intelligence)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Space Grotesk"/>
                        </a:rPr>
                        <a:t>Auto-synthesize policy from compliance PDF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DE3F5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Space Grotesk"/>
                        </a:rPr>
                        <a:t>Runtime inline enforcement on LLM I/O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DE3F5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✗*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3DD9A0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3DD9A0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3DD9A0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Space Grotesk"/>
                        </a:rPr>
                        <a:t>Closed-loop continuous Red Team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DE3F5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Space Grotesk"/>
                        </a:rPr>
                        <a:t>Auto-generated compliance PDF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DE3F5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5C25E"/>
                          </a:solidFill>
                          <a:latin typeface="JetBrains Mono"/>
                        </a:rPr>
                        <a:t>partial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5C25E"/>
                          </a:solidFill>
                          <a:latin typeface="JetBrains Mono"/>
                        </a:rPr>
                        <a:t>partial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Space Grotesk"/>
                        </a:rPr>
                        <a:t>Open-source DPI substrate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DE3F5"/>
                          </a:solidFill>
                          <a:latin typeface="JetBrains Mono"/>
                        </a:rPr>
                        <a:t>✓ (Veea LT)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25C5C"/>
                          </a:solidFill>
                          <a:latin typeface="JetBrains Mono"/>
                        </a:rPr>
                        <a:t>✗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521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E8499"/>
                </a:solidFill>
                <a:latin typeface="Space Grotesk"/>
              </a:rPr>
              <a:t>* Microsoft Purview AI Hub provides endpoint browser DLP + post-hoc audit only — not inline blocking on LLM outputs.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Space Grotesk"/>
              </a:rPr>
              <a:t>None of the four funded incumbents combine auto-synthesis + runtime enforcement + closed-loop verification.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learn.microsoft.com/purview  ·  lakera.ai/lakera-guard  ·  f5.com/products/ai-guardrails  ·  cisco.com/products/security/ai-defense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943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4F5F8"/>
                </a:solidFill>
                <a:latin typeface="Space Grotesk"/>
              </a:rPr>
              <a:t>Per-policy subscription.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F4F5F8"/>
                </a:solidFill>
                <a:latin typeface="Space Grotesk"/>
              </a:rPr>
              <a:t>SOC 2-defensible.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F4F5F8"/>
                </a:solidFill>
                <a:latin typeface="Space Grotesk"/>
              </a:rPr>
              <a:t>&gt;95% gross margin.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0"/>
            <a:ext cx="5760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B8BCC9"/>
                </a:solidFill>
                <a:latin typeface="Space Grotesk"/>
              </a:rPr>
              <a:t>Tiered SaaS + per-inference overage. Self-hosted Lobster Trap option for compliance-strict tenants. Pricing is a draft model pending design-partner validation (Q3 2026 pilots).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0" y="1280160"/>
          <a:ext cx="5029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DE3F5"/>
                          </a:solidFill>
                          <a:latin typeface="JetBrains Mono"/>
                        </a:rPr>
                        <a:t>Starter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DE3F5"/>
                          </a:solidFill>
                          <a:latin typeface="JetBrains Mono"/>
                        </a:rPr>
                        <a:t>Pro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Compliance packs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8BCC9"/>
                          </a:solidFill>
                          <a:latin typeface="JetBrains Mono"/>
                        </a:rPr>
                        <a:t>1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8BCC9"/>
                          </a:solidFill>
                          <a:latin typeface="JetBrains Mono"/>
                        </a:rPr>
                        <a:t>Unlimited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AI agents protected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8BCC9"/>
                          </a:solidFill>
                          <a:latin typeface="JetBrains Mono"/>
                        </a:rPr>
                        <a:t>1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8BCC9"/>
                          </a:solidFill>
                          <a:latin typeface="JetBrains Mono"/>
                        </a:rPr>
                        <a:t>Unlimited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Continuous Red Team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8BCC9"/>
                          </a:solidFill>
                          <a:latin typeface="JetBrains Mono"/>
                        </a:rPr>
                        <a:t>weekly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8BCC9"/>
                          </a:solidFill>
                          <a:latin typeface="JetBrains Mono"/>
                        </a:rPr>
                        <a:t>continuous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Drift detection (v0.2)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44B5C"/>
                          </a:solidFill>
                          <a:latin typeface="JetBrains Mono"/>
                        </a:rPr>
                        <a:t>—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A8C7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Slack / Linear alerts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44B5C"/>
                          </a:solidFill>
                          <a:latin typeface="JetBrains Mono"/>
                        </a:rPr>
                        <a:t>—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A8C7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Compliance PDF auto-gen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A8C7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A8C7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Self-hosted LT option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44B5C"/>
                          </a:solidFill>
                          <a:latin typeface="JetBrains Mono"/>
                        </a:rPr>
                        <a:t>—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A8C7"/>
                          </a:solidFill>
                          <a:latin typeface="JetBrains Mono"/>
                        </a:rPr>
                        <a:t>✓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Audience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8BCC9"/>
                          </a:solidFill>
                          <a:latin typeface="JetBrains Mono"/>
                        </a:rPr>
                        <a:t>SOC 2 design partners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B8BCC9"/>
                          </a:solidFill>
                          <a:latin typeface="JetBrains Mono"/>
                        </a:rPr>
                        <a:t>Multi-policy enterprises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4F5F8"/>
                          </a:solidFill>
                          <a:latin typeface="Space Grotesk"/>
                        </a:rPr>
                        <a:t>Price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5DE3F5"/>
                          </a:solidFill>
                          <a:latin typeface="JetBrains Mono"/>
                        </a:rPr>
                        <a:t>$499 / mo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5DE3F5"/>
                          </a:solidFill>
                          <a:latin typeface="JetBrains Mono"/>
                        </a:rPr>
                        <a:t>$2,499 / mo + $0.10/1k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A8C7"/>
                </a:solidFill>
                <a:latin typeface="JetBrains Mono"/>
              </a:rPr>
              <a:t>Marginal cost / policy ≈ $0.005 in Gemini compute (gemini-3.1-flash-lite). Gross margin &gt;95%.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ai.google.dev/gemini-api/docs/pricing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UNIT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4F5F8"/>
                </a:solidFill>
                <a:latin typeface="Space Grotesk"/>
              </a:rPr>
              <a:t>Why the math works.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287" y="2377440"/>
            <a:ext cx="3657600" cy="178308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2287" y="2377440"/>
            <a:ext cx="73152" cy="1783080"/>
          </a:xfrm>
          <a:prstGeom prst="rect">
            <a:avLst/>
          </a:prstGeom>
          <a:solidFill>
            <a:srgbClr val="5D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6517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4F5F8"/>
                </a:solidFill>
                <a:latin typeface="Space Grotesk"/>
              </a:rPr>
              <a:t>11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35204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END-TO-END  ·  60s SLA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67047" y="2377440"/>
            <a:ext cx="3657600" cy="178308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7047" y="2377440"/>
            <a:ext cx="73152" cy="1783080"/>
          </a:xfrm>
          <a:prstGeom prst="rect">
            <a:avLst/>
          </a:prstGeom>
          <a:solidFill>
            <a:srgbClr val="3DD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2807" y="26517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4F5F8"/>
                </a:solidFill>
                <a:latin typeface="Space Grotesk"/>
              </a:rPr>
              <a:t>$0.005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807" y="35204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DD9A0"/>
                </a:solidFill>
                <a:latin typeface="JetBrains Mono"/>
              </a:rPr>
              <a:t>GEMINI COST / POLICY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1807" y="2377440"/>
            <a:ext cx="3657600" cy="178308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61807" y="2377440"/>
            <a:ext cx="73152" cy="1783080"/>
          </a:xfrm>
          <a:prstGeom prst="rect">
            <a:avLst/>
          </a:prstGeom>
          <a:solidFill>
            <a:srgbClr val="F5C2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7567" y="26517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4F5F8"/>
                </a:solidFill>
                <a:latin typeface="Space Grotesk"/>
              </a:rPr>
              <a:t>3,000,000×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7567" y="35204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C25E"/>
                </a:solidFill>
                <a:latin typeface="JetBrains Mono"/>
              </a:rPr>
              <a:t>COST COMPRESSION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2287" y="4343400"/>
            <a:ext cx="3657600" cy="178308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2287" y="4343400"/>
            <a:ext cx="73152" cy="1783080"/>
          </a:xfrm>
          <a:prstGeom prst="rect">
            <a:avLst/>
          </a:prstGeom>
          <a:solidFill>
            <a:srgbClr val="A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047" y="461772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4F5F8"/>
                </a:solidFill>
                <a:latin typeface="Space Grotesk"/>
              </a:rPr>
              <a:t>$15K–$45K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047" y="54864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077FF"/>
                </a:solidFill>
                <a:latin typeface="JetBrains Mono"/>
              </a:rPr>
              <a:t>COMPLIANCE COUNSEL REPLACED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7047" y="4343400"/>
            <a:ext cx="3657600" cy="178308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7047" y="4343400"/>
            <a:ext cx="73152" cy="1783080"/>
          </a:xfrm>
          <a:prstGeom prst="rect">
            <a:avLst/>
          </a:prstGeom>
          <a:solidFill>
            <a:srgbClr val="1AA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2807" y="461772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4F5F8"/>
                </a:solidFill>
                <a:latin typeface="Space Grotesk"/>
              </a:rPr>
              <a:t>11 / 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2807" y="54864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AA8C7"/>
                </a:solidFill>
                <a:latin typeface="JetBrains Mono"/>
              </a:rPr>
              <a:t>LOBSTER TRAP CORPUS 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4343400"/>
            <a:ext cx="3657600" cy="178308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4343400"/>
            <a:ext cx="73152" cy="1783080"/>
          </a:xfrm>
          <a:prstGeom prst="rect">
            <a:avLst/>
          </a:prstGeom>
          <a:solidFill>
            <a:srgbClr val="3DD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461772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4F5F8"/>
                </a:solidFill>
                <a:latin typeface="Space Grotesk"/>
              </a:rPr>
              <a:t>62 / 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54864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DD9A0"/>
                </a:solidFill>
                <a:latin typeface="JetBrains Mono"/>
              </a:rPr>
              <a:t>UNIT TESTS 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7E8499"/>
                </a:solidFill>
                <a:latin typeface="Space Grotesk"/>
              </a:rPr>
              <a:t>Counsel-cost floor: Drata SOC 2 framework (3-wk observation + 2-5wk audit) × Clio's $378/hr 2026 median compliance rate × FTE ≈ $45K per policy cycle.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drata.com/grc-central/soc-2  ·  clio.com/resources/legal-trends  ·  ai.google.dev/gemini-api/docs/pricing  ·  github.com/seekerPrice/polaris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4F5F8"/>
                </a:solidFill>
                <a:latin typeface="Space Grotesk"/>
              </a:rPr>
              <a:t>Where we go after the hackathon.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2468880"/>
            <a:ext cx="2194560" cy="347472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468880"/>
            <a:ext cx="2194560" cy="54864"/>
          </a:xfrm>
          <a:prstGeom prst="rect">
            <a:avLst/>
          </a:prstGeom>
          <a:solidFill>
            <a:srgbClr val="5D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887" y="26517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4F5F8"/>
                </a:solidFill>
                <a:latin typeface="Space Grotesk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887" y="3154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next · pilots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887" y="3657600"/>
            <a:ext cx="18288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Per-agent declared_intent verdicts (v0.2)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SOC 2 design-partner pilot (3-5 enterprises)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Drift detection v0.1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58287" y="2468880"/>
            <a:ext cx="2194560" cy="347472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8287" y="2468880"/>
            <a:ext cx="2194560" cy="54864"/>
          </a:xfrm>
          <a:prstGeom prst="rect">
            <a:avLst/>
          </a:prstGeom>
          <a:solidFill>
            <a:srgbClr val="3DD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1167" y="26517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4F5F8"/>
                </a:solidFill>
                <a:latin typeface="Space Grotesk"/>
              </a:rPr>
              <a:t>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1167" y="3154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DD9A0"/>
                </a:solidFill>
                <a:latin typeface="JetBrains Mono"/>
              </a:rPr>
              <a:t>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1167" y="3657600"/>
            <a:ext cx="18288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3DD9A0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HIPAA + PCI-DSS pack hardening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3DD9A0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Pricing GA (Starter + Pro)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3DD9A0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Slack / Linear alerts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98567" y="2468880"/>
            <a:ext cx="2194560" cy="347472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8567" y="2468880"/>
            <a:ext cx="2194560" cy="54864"/>
          </a:xfrm>
          <a:prstGeom prst="rect">
            <a:avLst/>
          </a:prstGeom>
          <a:solidFill>
            <a:srgbClr val="F5C2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1447" y="26517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4F5F8"/>
                </a:solidFill>
                <a:latin typeface="Space Grotesk"/>
              </a:rPr>
              <a:t>Q1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1447" y="3154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C25E"/>
                </a:solidFill>
                <a:latin typeface="JetBrains Mono"/>
              </a:rPr>
              <a:t>SEED · $2M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1447" y="3657600"/>
            <a:ext cx="18288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F5C25E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Multi-tenant SaaS architecture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F5C25E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$2M Seed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38847" y="2468880"/>
            <a:ext cx="2194560" cy="347472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38847" y="2468880"/>
            <a:ext cx="2194560" cy="54864"/>
          </a:xfrm>
          <a:prstGeom prst="rect">
            <a:avLst/>
          </a:prstGeom>
          <a:solidFill>
            <a:srgbClr val="A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1727" y="26517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4F5F8"/>
                </a:solidFill>
                <a:latin typeface="Space Grotesk"/>
              </a:rPr>
              <a:t>Q2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1727" y="3154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077FF"/>
                </a:solidFill>
                <a:latin typeface="JetBrains Mono"/>
              </a:rPr>
              <a:t>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1727" y="3657600"/>
            <a:ext cx="18288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A077FF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EU AI Act Annex III templates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A077FF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25 paying tenants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79127" y="2468880"/>
            <a:ext cx="2194560" cy="3474720"/>
          </a:xfrm>
          <a:prstGeom prst="rect">
            <a:avLst/>
          </a:prstGeom>
          <a:solidFill>
            <a:srgbClr val="13161F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79127" y="2468880"/>
            <a:ext cx="2194560" cy="54864"/>
          </a:xfrm>
          <a:prstGeom prst="rect">
            <a:avLst/>
          </a:prstGeom>
          <a:solidFill>
            <a:srgbClr val="1AA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62007" y="26517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4F5F8"/>
                </a:solidFill>
                <a:latin typeface="Space Grotesk"/>
              </a:rPr>
              <a:t>Q3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2007" y="3154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AA8C7"/>
                </a:solidFill>
                <a:latin typeface="JetBrains Mono"/>
              </a:rPr>
              <a:t>channel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2007" y="3657600"/>
            <a:ext cx="18288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1AA8C7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Self-service Veea DevKit deploy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1">
                <a:solidFill>
                  <a:srgbClr val="1AA8C7"/>
                </a:solidFill>
                <a:latin typeface="JetBrains Mono"/>
              </a:rPr>
              <a:t>▸  </a:t>
            </a:r>
            <a:r>
              <a:rPr sz="1000">
                <a:solidFill>
                  <a:srgbClr val="B8BCC9"/>
                </a:solidFill>
                <a:latin typeface="Space Grotesk"/>
              </a:rPr>
              <a:t>100+ tenants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8567" y="6080760"/>
            <a:ext cx="2194560" cy="164592"/>
          </a:xfrm>
          <a:prstGeom prst="rect">
            <a:avLst/>
          </a:prstGeom>
          <a:solidFill>
            <a:srgbClr val="F5C2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98567" y="628192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5C25E"/>
                </a:solidFill>
                <a:latin typeface="JetBrains Mono"/>
              </a:rPr>
              <a:t>FUNDRAISING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4F5F8"/>
                </a:solidFill>
                <a:latin typeface="Space Grotesk"/>
              </a:rPr>
              <a:t>Sole engineer, with the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F4F5F8"/>
                </a:solidFill>
                <a:latin typeface="Space Grotesk"/>
              </a:rPr>
              <a:t>production playbook already shipped.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926080"/>
            <a:ext cx="6858000" cy="3291840"/>
          </a:xfrm>
          <a:prstGeom prst="rect">
            <a:avLst/>
          </a:prstGeom>
          <a:solidFill>
            <a:srgbClr val="13161F"/>
          </a:solidFill>
          <a:ln w="9525">
            <a:solidFill>
              <a:srgbClr val="1AA8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926080"/>
            <a:ext cx="73152" cy="3291840"/>
          </a:xfrm>
          <a:prstGeom prst="rect">
            <a:avLst/>
          </a:prstGeom>
          <a:solidFill>
            <a:srgbClr val="5D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3200400"/>
            <a:ext cx="1371600" cy="1371600"/>
          </a:xfrm>
          <a:prstGeom prst="ellipse">
            <a:avLst/>
          </a:prstGeom>
          <a:solidFill>
            <a:srgbClr val="1AA8C7"/>
          </a:solidFill>
          <a:ln w="19050">
            <a:solidFill>
              <a:srgbClr val="5DE3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56432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>
                <a:solidFill>
                  <a:srgbClr val="0B0D14"/>
                </a:solidFill>
                <a:latin typeface="JetBrains Mono"/>
              </a:rPr>
              <a:t>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32004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4F5F8"/>
                </a:solidFill>
                <a:latin typeface="Space Grotesk"/>
              </a:rPr>
              <a:t>Lucas — Loo Tan Yu Heng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6576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FOUNDER &amp; LEAD AI ENGINEER  ·  KUALA LUMPUR, 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4114800"/>
            <a:ext cx="4937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B8BCC9"/>
                </a:solidFill>
                <a:latin typeface="Space Grotesk"/>
              </a:rPr>
              <a:t>Lead AI Engineer at Hoppi (M) Sdn Bhd on Hotseller V5 — 25+ orchestrated Gemini agents, multi-tier model routing, semantic cache invalidation, taxonomy classifier across 51 categories × 100K+ multilingual records. Authored 26-entry LLM Production Anti-Pattern Registry. Polaris's 4-agent loop is the same pattern, applied to compliance.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2926080"/>
            <a:ext cx="1417320" cy="3291840"/>
          </a:xfrm>
          <a:prstGeom prst="rect">
            <a:avLst/>
          </a:prstGeom>
          <a:solidFill>
            <a:srgbClr val="1B202A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32420" y="3383280"/>
            <a:ext cx="914400" cy="914400"/>
          </a:xfrm>
          <a:prstGeom prst="ellipse">
            <a:avLst/>
          </a:prstGeom>
          <a:solidFill>
            <a:srgbClr val="252B38"/>
          </a:solidFill>
          <a:ln w="9525">
            <a:solidFill>
              <a:srgbClr val="7E8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2420" y="3520440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7E8499"/>
                </a:solidFill>
                <a:latin typeface="Space Grotesk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572000"/>
            <a:ext cx="1143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B8BCC9"/>
                </a:solidFill>
                <a:latin typeface="JetBrains Mono"/>
              </a:rPr>
              <a:t>CISO ADVISOR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30352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5C25E"/>
                </a:solidFill>
                <a:latin typeface="JetBrains Mono"/>
              </a:rPr>
              <a:t>OPEN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566928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recruiting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2926080"/>
            <a:ext cx="1417320" cy="3291840"/>
          </a:xfrm>
          <a:prstGeom prst="rect">
            <a:avLst/>
          </a:prstGeom>
          <a:solidFill>
            <a:srgbClr val="1B202A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32620" y="3383280"/>
            <a:ext cx="914400" cy="914400"/>
          </a:xfrm>
          <a:prstGeom prst="ellipse">
            <a:avLst/>
          </a:prstGeom>
          <a:solidFill>
            <a:srgbClr val="252B38"/>
          </a:solidFill>
          <a:ln w="9525">
            <a:solidFill>
              <a:srgbClr val="7E8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32620" y="3520440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7E8499"/>
                </a:solidFill>
                <a:latin typeface="Space Grotesk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4572000"/>
            <a:ext cx="1143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B8BCC9"/>
                </a:solidFill>
                <a:latin typeface="JetBrains Mono"/>
              </a:rPr>
              <a:t>COMPLIANCE COUNSEL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530352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5C25E"/>
                </a:solidFill>
                <a:latin typeface="JetBrains Mono"/>
              </a:rPr>
              <a:t>OPEN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566928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recruiting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81360" y="2926080"/>
            <a:ext cx="1417320" cy="3291840"/>
          </a:xfrm>
          <a:prstGeom prst="rect">
            <a:avLst/>
          </a:prstGeom>
          <a:solidFill>
            <a:srgbClr val="1B202A"/>
          </a:solidFill>
          <a:ln w="9525">
            <a:solidFill>
              <a:srgbClr val="25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32820" y="3383280"/>
            <a:ext cx="914400" cy="914400"/>
          </a:xfrm>
          <a:prstGeom prst="ellipse">
            <a:avLst/>
          </a:prstGeom>
          <a:solidFill>
            <a:srgbClr val="252B38"/>
          </a:solidFill>
          <a:ln w="9525">
            <a:solidFill>
              <a:srgbClr val="7E8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32820" y="3520440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7E8499"/>
                </a:solidFill>
                <a:latin typeface="Space Grotesk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4572000"/>
            <a:ext cx="1143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B8BCC9"/>
                </a:solidFill>
                <a:latin typeface="JetBrains Mono"/>
              </a:rPr>
              <a:t>VEEA PARTNERSHIPS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18520" y="530352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5C25E"/>
                </a:solidFill>
                <a:latin typeface="JetBrains Mono"/>
              </a:rPr>
              <a:t>OPEN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566928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recruiting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github.com/seekerPrice/polaris  ·  linkedin.com/in/lucasloo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WHAT WE'RE 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4F5F8"/>
                </a:solidFill>
                <a:latin typeface="Space Grotesk"/>
              </a:rPr>
              <a:t>Hackathon-first.</a:t>
            </a:r>
          </a:p>
          <a:p>
            <a:pPr algn="l">
              <a:lnSpc>
                <a:spcPct val="105000"/>
              </a:lnSpc>
            </a:pPr>
            <a:r>
              <a:rPr sz="3000" b="1">
                <a:solidFill>
                  <a:srgbClr val="F4F5F8"/>
                </a:solidFill>
                <a:latin typeface="Space Grotesk"/>
              </a:rPr>
              <a:t>Pilot deployments next.</a:t>
            </a:r>
          </a:p>
          <a:p>
            <a:pPr algn="l">
              <a:lnSpc>
                <a:spcPct val="105000"/>
              </a:lnSpc>
            </a:pPr>
            <a:r>
              <a:rPr sz="3000" b="1">
                <a:solidFill>
                  <a:srgbClr val="F4F5F8"/>
                </a:solidFill>
                <a:latin typeface="Space Grotesk"/>
              </a:rPr>
              <a:t>$2M Seed in Q1 2027.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5943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8BCC9"/>
                </a:solidFill>
                <a:latin typeface="Space Grotesk"/>
              </a:rPr>
              <a:t>Today's ask is operational, not financial: deploy Polaris as a Veea DevKit pilot in your enterprise. Goal: 3–5 SOC 2 design partners in Q3 2026.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E8499"/>
                </a:solidFill>
                <a:latin typeface="JetBrains Mono"/>
              </a:rPr>
              <a:t>Future Seed allocation ($2M)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2971800" cy="411480"/>
          </a:xfrm>
          <a:prstGeom prst="rect">
            <a:avLst/>
          </a:prstGeom>
          <a:solidFill>
            <a:srgbClr val="5D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0220" y="61081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B0D14"/>
                </a:solidFill>
                <a:latin typeface="JetBrains Mono"/>
              </a:rPr>
              <a:t>50%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6035040"/>
            <a:ext cx="1783080" cy="411480"/>
          </a:xfrm>
          <a:prstGeom prst="rect">
            <a:avLst/>
          </a:prstGeom>
          <a:solidFill>
            <a:srgbClr val="3DD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7660" y="61081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B0D14"/>
                </a:solidFill>
                <a:latin typeface="JetBrains Mono"/>
              </a:rPr>
              <a:t>30%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6035040"/>
            <a:ext cx="1188720" cy="411480"/>
          </a:xfrm>
          <a:prstGeom prst="rect">
            <a:avLst/>
          </a:prstGeom>
          <a:solidFill>
            <a:srgbClr val="F5C2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0" y="61081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B0D14"/>
                </a:solidFill>
                <a:latin typeface="JetBrains Mono"/>
              </a:rPr>
              <a:t>20%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371600"/>
            <a:ext cx="4114800" cy="4572000"/>
          </a:xfrm>
          <a:prstGeom prst="rect">
            <a:avLst/>
          </a:prstGeom>
          <a:solidFill>
            <a:srgbClr val="13161F"/>
          </a:solidFill>
          <a:ln w="9525">
            <a:solidFill>
              <a:srgbClr val="1AA8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0" y="1371600"/>
            <a:ext cx="4114800" cy="54864"/>
          </a:xfrm>
          <a:prstGeom prst="rect">
            <a:avLst/>
          </a:prstGeom>
          <a:solidFill>
            <a:srgbClr val="5D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1600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IDEAL PARTNER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194560"/>
            <a:ext cx="3749039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25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250">
                <a:solidFill>
                  <a:srgbClr val="B8BCC9"/>
                </a:solidFill>
                <a:latin typeface="Space Grotesk"/>
              </a:rPr>
              <a:t>A Veea ecosystem deployment lead (Lobster Trap is the substrate).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25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250">
                <a:solidFill>
                  <a:srgbClr val="B8BCC9"/>
                </a:solidFill>
                <a:latin typeface="Space Grotesk"/>
              </a:rPr>
              <a:t>A regulated-industry early-adopter (Fortune 2000 in healthcare or fintech).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250" b="1">
                <a:solidFill>
                  <a:srgbClr val="5DE3F5"/>
                </a:solidFill>
                <a:latin typeface="JetBrains Mono"/>
              </a:rPr>
              <a:t>▸  </a:t>
            </a:r>
            <a:r>
              <a:rPr sz="1250">
                <a:solidFill>
                  <a:srgbClr val="B8BCC9"/>
                </a:solidFill>
                <a:latin typeface="Space Grotesk"/>
              </a:rPr>
              <a:t>A counsel-side advisor on EU AI Act high-risk classification (Annex III).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0312" cy="6309360"/>
          </a:xfrm>
          <a:prstGeom prst="rect">
            <a:avLst/>
          </a:prstGeom>
          <a:solidFill>
            <a:srgbClr val="13161F"/>
          </a:solidFill>
          <a:ln w="12700">
            <a:solidFill>
              <a:srgbClr val="5DE3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E3F5"/>
                </a:solidFill>
                <a:latin typeface="JetBrains Mono"/>
              </a:rPr>
              <a:t>POLARIS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548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E8499"/>
                </a:solidFill>
                <a:latin typeface="JetBrains Mono"/>
              </a:rPr>
              <a:t>VEEA TRUST TRACK  ·  TECHEX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127455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0" b="1">
                <a:solidFill>
                  <a:srgbClr val="F4F5F8"/>
                </a:solidFill>
                <a:latin typeface="Space Grotesk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80560"/>
            <a:ext cx="112745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5DE3F5"/>
                </a:solidFill>
                <a:latin typeface="JetBrains Mono"/>
              </a:rPr>
              <a:t>polaris--lucaslootan.replit.app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12080"/>
            <a:ext cx="112745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8BCC9"/>
                </a:solidFill>
                <a:latin typeface="JetBrains Mono"/>
              </a:rPr>
              <a:t>lucaslootan@gmail.com  ·  github.com/seekerPrice/polaris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7E8499"/>
                </a:solidFill>
                <a:latin typeface="Space Grotesk"/>
              </a:rPr>
              <a:t>Drop your SOC 2 PDF. Watch the firewall deploy in 11 seconds.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APPENDIX  · 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4F5F8"/>
                </a:solidFill>
                <a:latin typeface="Space Grotesk"/>
              </a:rPr>
              <a:t>Try Polaris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8BCC9"/>
                </a:solidFill>
                <a:latin typeface="Space Grotesk"/>
              </a:rPr>
              <a:t>Drop your SOC 2 PDF. Watch the firewall deploy in 11 seconds.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2767" y="2926080"/>
            <a:ext cx="3566160" cy="3566160"/>
          </a:xfrm>
          <a:prstGeom prst="rect">
            <a:avLst/>
          </a:prstGeom>
          <a:solidFill>
            <a:srgbClr val="F4F5F8"/>
          </a:solidFill>
          <a:ln w="25400">
            <a:solidFill>
              <a:srgbClr val="5DE3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olaris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647" y="3108960"/>
            <a:ext cx="3200400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5DE3F5"/>
                </a:solidFill>
                <a:latin typeface="JetBrains Mono"/>
              </a:rPr>
              <a:t>polaris--lucaslootan.replit.app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APPENDIX  · 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4F5F8"/>
                </a:solidFill>
                <a:latin typeface="Space Grotesk"/>
              </a:rPr>
              <a:t>The 4-agent + Lobster Trap loop.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1554480" cy="1188720"/>
          </a:xfrm>
          <a:prstGeom prst="rect">
            <a:avLst/>
          </a:prstGeom>
          <a:solidFill>
            <a:srgbClr val="13161F"/>
          </a:solidFill>
          <a:ln w="12700">
            <a:solidFill>
              <a:srgbClr val="7E8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554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E8499"/>
                </a:solidFill>
                <a:latin typeface="JetBrains Mono"/>
              </a:rPr>
              <a:t>Compliance</a:t>
            </a:r>
          </a:p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E8499"/>
                </a:solidFill>
                <a:latin typeface="JetBrains Mono"/>
              </a:rPr>
              <a:t>PDF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2743200"/>
            <a:ext cx="1554480" cy="1188720"/>
          </a:xfrm>
          <a:prstGeom prst="rect">
            <a:avLst/>
          </a:prstGeom>
          <a:solidFill>
            <a:srgbClr val="13161F"/>
          </a:solidFill>
          <a:ln w="12700">
            <a:solidFill>
              <a:srgbClr val="5DE3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2880360"/>
            <a:ext cx="1554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READER</a:t>
            </a:r>
          </a:p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5DE3F5"/>
                </a:solidFill>
                <a:latin typeface="JetBrains Mono"/>
              </a:rPr>
              <a:t>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743200"/>
            <a:ext cx="1554480" cy="1188720"/>
          </a:xfrm>
          <a:prstGeom prst="rect">
            <a:avLst/>
          </a:prstGeom>
          <a:solidFill>
            <a:srgbClr val="13161F"/>
          </a:solidFill>
          <a:ln w="12700">
            <a:solidFill>
              <a:srgbClr val="3DD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880360"/>
            <a:ext cx="1554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3DD9A0"/>
                </a:solidFill>
                <a:latin typeface="JetBrains Mono"/>
              </a:rPr>
              <a:t>SYNTHESIZER</a:t>
            </a:r>
          </a:p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3DD9A0"/>
                </a:solidFill>
                <a:latin typeface="JetBrains Mono"/>
              </a:rPr>
              <a:t>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743200"/>
            <a:ext cx="1554480" cy="1188720"/>
          </a:xfrm>
          <a:prstGeom prst="rect">
            <a:avLst/>
          </a:prstGeom>
          <a:solidFill>
            <a:srgbClr val="13161F"/>
          </a:solidFill>
          <a:ln w="12700">
            <a:solidFill>
              <a:srgbClr val="A0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880360"/>
            <a:ext cx="1554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A077FF"/>
                </a:solidFill>
                <a:latin typeface="JetBrains Mono"/>
              </a:rPr>
              <a:t>policy.yaml</a:t>
            </a:r>
          </a:p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A077FF"/>
                </a:solidFill>
                <a:latin typeface="JetBrains Mono"/>
              </a:rPr>
              <a:t>+ schemas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743200"/>
            <a:ext cx="1554480" cy="1188720"/>
          </a:xfrm>
          <a:prstGeom prst="rect">
            <a:avLst/>
          </a:prstGeom>
          <a:solidFill>
            <a:srgbClr val="13161F"/>
          </a:solidFill>
          <a:ln w="12700">
            <a:solidFill>
              <a:srgbClr val="F5C2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880360"/>
            <a:ext cx="1554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5C25E"/>
                </a:solidFill>
                <a:latin typeface="JetBrains Mono"/>
              </a:rPr>
              <a:t>LOBSTER</a:t>
            </a:r>
          </a:p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5C25E"/>
                </a:solidFill>
                <a:latin typeface="JetBrains Mono"/>
              </a:rPr>
              <a:t>TRAP DPI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0" y="2743200"/>
            <a:ext cx="1554480" cy="1188720"/>
          </a:xfrm>
          <a:prstGeom prst="rect">
            <a:avLst/>
          </a:prstGeom>
          <a:solidFill>
            <a:srgbClr val="13161F"/>
          </a:solidFill>
          <a:ln w="12700">
            <a:solidFill>
              <a:srgbClr val="7E8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554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E8499"/>
                </a:solidFill>
                <a:latin typeface="JetBrains Mono"/>
              </a:rPr>
              <a:t>Demo</a:t>
            </a:r>
          </a:p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E8499"/>
                </a:solidFill>
                <a:latin typeface="JetBrains Mono"/>
              </a:rPr>
              <a:t>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4480560"/>
            <a:ext cx="1554480" cy="914400"/>
          </a:xfrm>
          <a:prstGeom prst="rect">
            <a:avLst/>
          </a:prstGeom>
          <a:solidFill>
            <a:srgbClr val="13161F"/>
          </a:solidFill>
          <a:ln w="12700">
            <a:solidFill>
              <a:srgbClr val="A0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4617720"/>
            <a:ext cx="1554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A077FF"/>
                </a:solidFill>
                <a:latin typeface="JetBrains Mono"/>
              </a:rPr>
              <a:t>MISMATCH</a:t>
            </a:r>
          </a:p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A077FF"/>
                </a:solidFill>
                <a:latin typeface="JetBrains Mono"/>
              </a:rPr>
              <a:t>DETECTOR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4480560"/>
            <a:ext cx="1554480" cy="914400"/>
          </a:xfrm>
          <a:prstGeom prst="rect">
            <a:avLst/>
          </a:prstGeom>
          <a:solidFill>
            <a:srgbClr val="13161F"/>
          </a:solidFill>
          <a:ln w="12700">
            <a:solidFill>
              <a:srgbClr val="F2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4617720"/>
            <a:ext cx="1554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25C5C"/>
                </a:solidFill>
                <a:latin typeface="JetBrains Mono"/>
              </a:rPr>
              <a:t>RED TEAM</a:t>
            </a:r>
          </a:p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25C5C"/>
                </a:solidFill>
                <a:latin typeface="JetBrains Mono"/>
              </a:rPr>
              <a:t>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2461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5DE3F5"/>
                </a:solidFill>
                <a:latin typeface="JetBrains Mono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2461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5DE3F5"/>
                </a:solidFill>
                <a:latin typeface="JetBrains Mono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2461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5DE3F5"/>
                </a:solidFill>
                <a:latin typeface="JetBrains Mono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2461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5DE3F5"/>
                </a:solidFill>
                <a:latin typeface="JetBrains Mono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2461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5DE3F5"/>
                </a:solidFill>
                <a:latin typeface="JetBrains Mono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0233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7E8499"/>
                </a:solidFill>
                <a:latin typeface="JetBrains Mono"/>
              </a:rPr>
              <a:t>audit log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39319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5C25E"/>
                </a:solidFill>
                <a:latin typeface="JetBrains Mono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40233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25C5C"/>
                </a:solidFill>
                <a:latin typeface="JetBrains Mono"/>
              </a:rPr>
              <a:t>regenerate 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7E8499"/>
                </a:solidFill>
                <a:latin typeface="Space Grotesk"/>
              </a:rPr>
              <a:t>Full architecture in CLAUDE.md §3. The Mismatch Detector compares Lobster Trap's _lobstertrap declared-intent vs detected — gaps fire the Red Team probe loop.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github.com/seekerPrice/polaris  ·  github.com/veeainc/lobstertrap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POLARIS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274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E8499"/>
                </a:solidFill>
                <a:latin typeface="JetBrains Mono"/>
              </a:rPr>
              <a:t>VEEA TRUST TRACK · TECHEX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E3F5"/>
                </a:solidFill>
                <a:latin typeface="JetBrains Mono"/>
              </a:rPr>
              <a:t>APPENDIX  ·  COMPLIANCE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4F5F8"/>
                </a:solidFill>
                <a:latin typeface="Space Grotesk"/>
              </a:rPr>
              <a:t>Every rule traces to a named, citable control.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5603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572000"/>
                <a:gridCol w="2377440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5DE3F5"/>
                          </a:solidFill>
                          <a:latin typeface="JetBrains Mono"/>
                        </a:rPr>
                        <a:t>Source control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5DE3F5"/>
                          </a:solidFill>
                          <a:latin typeface="JetBrains Mono"/>
                        </a:rPr>
                        <a:t>Polaris rule examples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5DE3F5"/>
                          </a:solidFill>
                          <a:latin typeface="JetBrains Mono"/>
                        </a:rPr>
                        <a:t>LT action</a:t>
                      </a:r>
                    </a:p>
                  </a:txBody>
                  <a:tcPr marL="109728" marR="109728" marT="54864" marB="54864">
                    <a:solidFill>
                      <a:srgbClr val="1B202A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SOC 2 CC6.1 (Logical access)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JetBrains Mono"/>
                        </a:rPr>
                        <a:t>block_credential_exfiltration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25C5C"/>
                          </a:solidFill>
                          <a:latin typeface="JetBrains Mono"/>
                        </a:rPr>
                        <a:t>DENY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SOC 2 CC8.1 (Change management)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JetBrains Mono"/>
                        </a:rPr>
                        <a:t>ApprovalGate consent before deploy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C25E"/>
                          </a:solidFill>
                          <a:latin typeface="JetBrains Mono"/>
                        </a:rPr>
                        <a:t>HUMAN_REVIEW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HIPAA §164.312(a)(2) (Access control)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JetBrains Mono"/>
                        </a:rPr>
                        <a:t>block_phi_unauthorized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25C5C"/>
                          </a:solidFill>
                          <a:latin typeface="JetBrains Mono"/>
                        </a:rPr>
                        <a:t>DENY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EU AI Act Art. 9 (Risk management)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JetBrains Mono"/>
                        </a:rPr>
                        <a:t>quarantine_borderline_credential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077FF"/>
                          </a:solidFill>
                          <a:latin typeface="JetBrains Mono"/>
                        </a:rPr>
                        <a:t>QUARANTINE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OWASP LLM01 (Prompt Injection)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JetBrains Mono"/>
                        </a:rPr>
                        <a:t>block_obfuscation_attempts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25C5C"/>
                          </a:solidFill>
                          <a:latin typeface="JetBrains Mono"/>
                        </a:rPr>
                        <a:t>DENY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B8BCC9"/>
                          </a:solidFill>
                          <a:latin typeface="Space Grotesk"/>
                        </a:rPr>
                        <a:t>OWASP LLM06 (Sensitive Info Disclosure)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4F5F8"/>
                          </a:solidFill>
                          <a:latin typeface="JetBrains Mono"/>
                        </a:rPr>
                        <a:t>egress DPI scan rules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25C5C"/>
                          </a:solidFill>
                          <a:latin typeface="JetBrains Mono"/>
                        </a:rPr>
                        <a:t>LOG + DENY</a:t>
                      </a:r>
                    </a:p>
                  </a:txBody>
                  <a:tcPr marL="109728" marR="109728" marT="54864" marB="54864">
                    <a:solidFill>
                      <a:srgbClr val="13161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E8499"/>
                </a:solidFill>
                <a:latin typeface="JetBrains Mono"/>
              </a:rPr>
              <a:t>aicpa-cima.com (SOC 2 TSC)  ·  hhs.gov/hipaa · 45 CFR §164.312  ·  artificialintelligenceact.eu  ·  owasp.org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