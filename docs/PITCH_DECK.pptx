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73152" cy="3657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7315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0" b="1">
                <a:solidFill>
                  <a:srgbClr val="0F172A"/>
                </a:solidFill>
                <a:latin typeface="Inter"/>
              </a:rPr>
              <a:t>Polaris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46E5"/>
                </a:solidFill>
                <a:latin typeface="JetBrains Mono"/>
              </a:rPr>
              <a:t>PITCH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>
                <a:solidFill>
                  <a:srgbClr val="475569"/>
                </a:solidFill>
                <a:latin typeface="Inter"/>
              </a:rPr>
              <a:t>From SOC 2 PDF to live AI guardrail in 60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MAY 2026  ·  AI &amp; BIG DATA EXPO  ·  SAN JOSE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417320"/>
            <a:ext cx="507492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63040"/>
            <a:ext cx="5029200" cy="19514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978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Live: polaris--lucaslootan.replit.app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D2FE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7D2FE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C7D2FE"/>
                </a:solidFill>
                <a:latin typeface="JetBrains Mono"/>
              </a:rPr>
              <a:t>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821527" y="1828800"/>
            <a:ext cx="548640" cy="27432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Compile compliance documents</a:t>
            </a:r>
          </a:p>
          <a:p>
            <a:pPr algn="ctr">
              <a:lnSpc>
                <a:spcPct val="108000"/>
              </a:lnSpc>
            </a:pPr>
            <a:r>
              <a:rPr sz="5200" b="1">
                <a:solidFill>
                  <a:srgbClr val="FFFFFF"/>
                </a:solidFill>
                <a:latin typeface="Inter"/>
              </a:rPr>
              <a:t>into running AI firewalls.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800" b="1">
                <a:solidFill>
                  <a:srgbClr val="C7D2FE"/>
                </a:solidFill>
                <a:latin typeface="Inter"/>
              </a:rPr>
              <a:t>At AI speed.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C7D2FE"/>
                </a:solidFill>
                <a:latin typeface="Inter"/>
              </a:rPr>
              <a:t>Polaris is the only end-to-end loop from compliance PDF → deployed runtime policy → continuous adversarial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A 4-agent closed loop that</a:t>
            </a:r>
          </a:p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compiles compliance into</a:t>
            </a:r>
          </a:p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runtime enforcement.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280160"/>
            <a:ext cx="45720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463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47088"/>
            <a:ext cx="3200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65960"/>
            <a:ext cx="429768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•  </a:t>
            </a:r>
            <a:r>
              <a:rPr sz="1200">
                <a:solidFill>
                  <a:srgbClr val="475569"/>
                </a:solidFill>
                <a:latin typeface="Inter"/>
              </a:rPr>
              <a:t>Compiles SOC 2 / HIPAA / EU AI Act / PCI-DSS PDFs into deployable Lobster Trap YAML in ~11s (60s SLA).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•  </a:t>
            </a:r>
            <a:r>
              <a:rPr sz="1200">
                <a:solidFill>
                  <a:srgbClr val="475569"/>
                </a:solidFill>
                <a:latin typeface="Inter"/>
              </a:rPr>
              <a:t>Red Team agent continuously stress-tests deployed policy; auto-patches on gap.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4F46E5"/>
                </a:solidFill>
                <a:latin typeface="Inter"/>
              </a:rPr>
              <a:t>•  </a:t>
            </a:r>
            <a:r>
              <a:rPr sz="1200">
                <a:solidFill>
                  <a:srgbClr val="475569"/>
                </a:solidFill>
                <a:latin typeface="Inter"/>
              </a:rPr>
              <a:t>Audit-defensible chain of custody mapped to SOC 2 CC8.1.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794760"/>
            <a:ext cx="45720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3977639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INDUSTRY &amp; MARKET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4361687"/>
            <a:ext cx="3200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480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Enterprise AI TRiSM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75488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4F46E5"/>
                </a:solidFill>
                <a:latin typeface="Inter"/>
              </a:rPr>
              <a:t>$2.34B → $7.44B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34924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2024 → 2030  ·  21.6% CAGR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72000"/>
            <a:ext cx="64008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138928"/>
            <a:ext cx="32004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257800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Inter"/>
              </a:rPr>
              <a:t>Lucas Loo Tan Yu Heng — Founder &amp; Lead AI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6126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Day job: Hoppi (M) Sdn Bhd — Hotseller V5 (25+ orchestrated Gemini agents in production).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5349240"/>
            <a:ext cx="45720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5458968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HERO METRIC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7332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11s actual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0" y="5779008"/>
            <a:ext cx="274320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603504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JetBrains Mono"/>
              </a:rPr>
              <a:t>60s SLA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6080760"/>
            <a:ext cx="1554480" cy="16459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Grand View Research · grandviewresearch.com/press-release/global-ai-trust-risk-security-management-market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577840" cy="5440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C2626"/>
                </a:solidFill>
                <a:latin typeface="JetBrains Mono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72768"/>
            <a:ext cx="502920" cy="228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0F172A"/>
                </a:solidFill>
                <a:latin typeface="Inter"/>
              </a:rPr>
              <a:t>Compliance lives in PDFs.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0F172A"/>
                </a:solidFill>
                <a:latin typeface="Inter"/>
              </a:rPr>
              <a:t>AI agents run in production.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0F172A"/>
                </a:solidFill>
                <a:latin typeface="Inter"/>
              </a:rPr>
              <a:t>The wire between is hand-written.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Inter"/>
              </a:rPr>
              <a:t>•  </a:t>
            </a:r>
            <a:r>
              <a:rPr sz="1300">
                <a:solidFill>
                  <a:srgbClr val="475569"/>
                </a:solidFill>
                <a:latin typeface="Inter"/>
              </a:rPr>
              <a:t>23% of enterprises scaling AI agents; 39% experimenting. (McKinsey State of AI 2025)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Inter"/>
              </a:rPr>
              <a:t>•  </a:t>
            </a:r>
            <a:r>
              <a:rPr sz="1300">
                <a:solidFill>
                  <a:srgbClr val="475569"/>
                </a:solidFill>
                <a:latin typeface="Inter"/>
              </a:rPr>
              <a:t>233 AI security incidents in 2024 → 362 in 2025, +55% YoY. (Stanford HAI AI Index)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300" b="1">
                <a:solidFill>
                  <a:srgbClr val="DC2626"/>
                </a:solidFill>
                <a:latin typeface="Inter"/>
              </a:rPr>
              <a:t>•  </a:t>
            </a:r>
            <a:r>
              <a:rPr sz="1300">
                <a:solidFill>
                  <a:srgbClr val="475569"/>
                </a:solidFill>
                <a:latin typeface="Inter"/>
              </a:rPr>
              <a:t>Median compliance / business-formation counsel: $378 / hr. (Clio Legal Trends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486400" cy="5440680"/>
          </a:xfrm>
          <a:prstGeom prst="rect">
            <a:avLst/>
          </a:prstGeom>
          <a:solidFill>
            <a:srgbClr val="3730A3"/>
          </a:solidFill>
          <a:ln w="63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C7D2FE"/>
                </a:solidFill>
                <a:latin typeface="JetBrains Mono"/>
              </a:rPr>
              <a:t>WHY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72768"/>
            <a:ext cx="502920" cy="228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Regulators are catching up.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Every enterprise running an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AI agent is non-conformant</a:t>
            </a:r>
          </a:p>
          <a:p>
            <a:pPr algn="l">
              <a:lnSpc>
                <a:spcPct val="108000"/>
              </a:lnSpc>
            </a:pPr>
            <a:r>
              <a:rPr sz="2200" b="1">
                <a:solidFill>
                  <a:srgbClr val="FFFFFF"/>
                </a:solidFill>
                <a:latin typeface="Inter"/>
              </a:rPr>
              <a:t>by default.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16052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•  </a:t>
            </a:r>
            <a:r>
              <a:rPr sz="1200">
                <a:solidFill>
                  <a:srgbClr val="C7D2FE"/>
                </a:solidFill>
                <a:latin typeface="Inter"/>
              </a:rPr>
              <a:t>EU AI Act high-risk: 2 Aug 2026 statutory. Digital Omnibus (7 May 2026) defers Annex III to 2 Dec 2027 — not yet enacted.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•  </a:t>
            </a:r>
            <a:r>
              <a:rPr sz="1200">
                <a:solidFill>
                  <a:srgbClr val="C7D2FE"/>
                </a:solidFill>
                <a:latin typeface="Inter"/>
              </a:rPr>
              <a:t>Colorado AI Act (SB24-205): postponed to 30 Jun 2026; enforcement stayed pending federal litigation.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•  </a:t>
            </a:r>
            <a:r>
              <a:rPr sz="1200">
                <a:solidFill>
                  <a:srgbClr val="C7D2FE"/>
                </a:solidFill>
                <a:latin typeface="Inter"/>
              </a:rPr>
              <a:t>NIST AI RMF 1.0 — voluntary framework, Jan 2023.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200" b="1">
                <a:solidFill>
                  <a:srgbClr val="FFFFFF"/>
                </a:solidFill>
                <a:latin typeface="Inter"/>
              </a:rPr>
              <a:t>•  </a:t>
            </a:r>
            <a:r>
              <a:rPr sz="1200">
                <a:solidFill>
                  <a:srgbClr val="C7D2FE"/>
                </a:solidFill>
                <a:latin typeface="Inter"/>
              </a:rPr>
              <a:t>OWASP LLM Top 10 v1.1 — prompt injection ranked #1.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mckinsey.com/state-of-ai  ·  hai.stanford.edu/ai-index  ·  clio.com/resources/legal-trends  ·  artificialintelligenceact.eu  ·  leg.colorado.gov/bills/sb24-205  ·  nist.gov · owasp.org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430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Polaris compiles compliance documents</a:t>
            </a:r>
          </a:p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into runtime AI guardrails — and verifies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1430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46E5"/>
                </a:solidFill>
                <a:latin typeface="Inter"/>
              </a:rPr>
              <a:t>Four Gemini agents. One Veea Lobster Trap firewall. One closed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567" y="35204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6567" y="3520440"/>
            <a:ext cx="365760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0887" y="379476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4F46E5"/>
                </a:solidFill>
                <a:latin typeface="JetBrains Mono"/>
              </a:rPr>
              <a:t>READER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JetBrains Mono"/>
              </a:rPr>
              <a:t>gemini-3.1-flash-lite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887" y="484632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Extracts compliance requirements from PDF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887" y="6035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4F46E5"/>
                </a:solidFill>
                <a:latin typeface="JetBrains Mono"/>
              </a:rPr>
              <a:t>~3s per doc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047" y="35204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7047" y="3520440"/>
            <a:ext cx="365760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379476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59669"/>
                </a:solidFill>
                <a:latin typeface="JetBrains Mono"/>
              </a:rPr>
              <a:t>SYNTHESIZER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367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JetBrains Mono"/>
              </a:rPr>
              <a:t>gemini-3.1-flash-lite + thinking=low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367" y="484632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Schema-first synthesis: passes LobsterTrapPolicy Pydantic class as response_schema.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367" y="6035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059669"/>
                </a:solidFill>
                <a:latin typeface="JetBrains Mono"/>
              </a:rPr>
              <a:t>~4.6s median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7527" y="3520440"/>
            <a:ext cx="365760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7527" y="3520440"/>
            <a:ext cx="3657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1847" y="3794760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D97706"/>
                </a:solidFill>
                <a:latin typeface="JetBrains Mono"/>
              </a:rPr>
              <a:t>RED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847" y="4297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JetBrains Mono"/>
              </a:rPr>
              <a:t>gemini-3.1-pro-preview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847" y="4846320"/>
            <a:ext cx="3108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Generates adversarial probes; triggers Synthesizer regeneration on gap.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847" y="6035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D97706"/>
                </a:solidFill>
                <a:latin typeface="JetBrains Mono"/>
              </a:rPr>
              <a:t>~10s / 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ai.google.dev/gemini-api/docs/pricing  ·  github.com/veeainc/lobstertrap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PRODUCT · LIVE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943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Drag-drop.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11 seconds.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Live firewall.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760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Phase-9 schema-first Synthesizer cuts latency 5× while tying with the larger Pro model on intrinsic accuracy (6.0/11 LT corpus). Same architectural pattern shipped at scale in Hoppi's Hotseller V5 (25+ orchestrated agents).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41732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emo_thumbn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5166360" cy="20046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docs/MODEL_BAKEOFF.md (48-run model bake-off, Phase 9, 2026-05-13)  ·  github.com/seekerPrice/polaris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THE CLOSED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0F172A"/>
                </a:solidFill>
                <a:latin typeface="Inter"/>
              </a:rPr>
              <a:t>This loop closes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475569"/>
                </a:solidFill>
                <a:latin typeface="Inter"/>
              </a:rPr>
              <a:t>Lobster Trap _lobstertrap declared-vs-detected mismatches feed the Red Team. Humans on the audit trail.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463" y="310896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7463" y="3108960"/>
            <a:ext cx="20116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343" y="3383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4F46E5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343" y="40690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Inter"/>
              </a:rPr>
              <a:t>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343" y="4572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JetBrains Mono"/>
              </a:rPr>
              <a:t>~3s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9143" y="40690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94A3B8"/>
                </a:solidFill>
                <a:latin typeface="JetBrains Mon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3735" y="310896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3735" y="3108960"/>
            <a:ext cx="20116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6615" y="3383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059669"/>
                </a:solidFill>
                <a:latin typeface="JetBrai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615" y="40690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Inter"/>
              </a:rPr>
              <a:t>Synthesizer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6615" y="4572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JetBrains Mono"/>
              </a:rPr>
              <a:t>4.6s · schema-first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25415" y="40690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94A3B8"/>
                </a:solidFill>
                <a:latin typeface="JetBrains Mono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90007" y="310896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90007" y="3108960"/>
            <a:ext cx="20116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2887" y="3383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7C3AED"/>
                </a:solidFill>
                <a:latin typeface="JetBrains Mono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2887" y="40690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Inter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2887" y="4572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JetBrains Mono"/>
              </a:rPr>
              <a:t>11/11 LT corpus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1687" y="40690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94A3B8"/>
                </a:solidFill>
                <a:latin typeface="JetBrains Mono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6279" y="310896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6279" y="3108960"/>
            <a:ext cx="20116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9159" y="3383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D97706"/>
                </a:solidFill>
                <a:latin typeface="JetBrains Mono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9159" y="40690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Inter"/>
              </a:rPr>
              <a:t>Lobster Trap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9159" y="4572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JetBrains Mono"/>
              </a:rPr>
              <a:t>_lobstertrap intent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77959" y="4069080"/>
            <a:ext cx="1645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94A3B8"/>
                </a:solidFill>
                <a:latin typeface="JetBrains Mono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42551" y="3108960"/>
            <a:ext cx="20116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42551" y="3108960"/>
            <a:ext cx="20116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5431" y="3383280"/>
            <a:ext cx="1371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>
                <a:solidFill>
                  <a:srgbClr val="DC2626"/>
                </a:solidFill>
                <a:latin typeface="JetBrains Mon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25431" y="40690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172A"/>
                </a:solidFill>
                <a:latin typeface="Inter"/>
              </a:rPr>
              <a:t>Red Team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5431" y="457200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JetBrains Mono"/>
              </a:rPr>
              <a:t>~10s · auto-patch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4F46E5"/>
                </a:solidFill>
                <a:latin typeface="JetBrains Mono"/>
              </a:rPr>
              <a:t>↻  Synthesizer regenerates on gap → hot-reload → same probe now blocked.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Inter"/>
              </a:rPr>
              <a:t>AI governing AI — with humans on the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A $7.44B market,</a:t>
            </a:r>
          </a:p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expanding 21.6% per year.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19125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$7.44B by 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8503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Global AI TRiSM. $2.34B (2024) → $7.44B at 21.6% CAGR. (Grand View Research, 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96849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Billion-dollar (Gartner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227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AI governance platforms. Precedence: $309M → $3.59B by 2033 at 36% CAGR.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74573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$740M serviceable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3951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US SOC 2 / HIPAA enterprises with AI agents in production (822k HIPAA × 23% McKinsey AI-in-prod rate).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7784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522976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0F172A"/>
                </a:solidFill>
                <a:latin typeface="Inter"/>
              </a:rPr>
              <a:t>$74M ARR potential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16752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1% capture × $500–$2,499 / mo / policy ARPU.</a:t>
            </a:r>
          </a:p>
        </p:txBody>
      </p:sp>
      <p:sp>
        <p:nvSpPr>
          <p:cNvPr id="19" name="Oval 18"/>
          <p:cNvSpPr/>
          <p:nvPr/>
        </p:nvSpPr>
        <p:spPr>
          <a:xfrm>
            <a:off x="6675120" y="1645920"/>
            <a:ext cx="4937760" cy="4937760"/>
          </a:xfrm>
          <a:prstGeom prst="ellipse">
            <a:avLst/>
          </a:prstGeom>
          <a:solidFill>
            <a:srgbClr val="EEF2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10312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JetBrains Mono"/>
              </a:rPr>
              <a:t>TAM</a:t>
            </a:r>
          </a:p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JetBrains Mono"/>
              </a:rPr>
              <a:t>$7.44B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2331720"/>
            <a:ext cx="3566160" cy="3566160"/>
          </a:xfrm>
          <a:prstGeom prst="ellipse">
            <a:avLst/>
          </a:prstGeom>
          <a:solidFill>
            <a:srgbClr val="C7D2FE"/>
          </a:solidFill>
          <a:ln w="9525">
            <a:solidFill>
              <a:srgbClr val="EE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1546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JetBrains Mono"/>
              </a:rPr>
              <a:t>SAM</a:t>
            </a:r>
          </a:p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F172A"/>
                </a:solidFill>
                <a:latin typeface="JetBrains Mono"/>
              </a:rPr>
              <a:t>$3.6B</a:t>
            </a:r>
          </a:p>
        </p:txBody>
      </p:sp>
      <p:sp>
        <p:nvSpPr>
          <p:cNvPr id="23" name="Oval 22"/>
          <p:cNvSpPr/>
          <p:nvPr/>
        </p:nvSpPr>
        <p:spPr>
          <a:xfrm>
            <a:off x="8001000" y="2971800"/>
            <a:ext cx="2286000" cy="2286000"/>
          </a:xfrm>
          <a:prstGeom prst="ellipse">
            <a:avLst/>
          </a:prstGeom>
          <a:solidFill>
            <a:srgbClr val="6366F1"/>
          </a:solidFill>
          <a:ln w="9525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29768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JetBrains Mono"/>
              </a:rPr>
              <a:t>TARGET</a:t>
            </a:r>
          </a:p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JetBrains Mono"/>
              </a:rPr>
              <a:t>$740M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0" y="3566160"/>
            <a:ext cx="1097280" cy="1097280"/>
          </a:xfrm>
          <a:prstGeom prst="ellipse">
            <a:avLst/>
          </a:prstGeom>
          <a:solidFill>
            <a:srgbClr val="3730A3"/>
          </a:solidFill>
          <a:ln w="9525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5440679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</a:rPr>
              <a:t>$74M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grandviewresearch.com · gartner.com (Feb 2026 PR)  ·  precedenceresearch.com  ·  mckinsey.com/state-of-ai  ·  hhs.gov/hipaa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Polaris is the only end-to-end</a:t>
            </a:r>
          </a:p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PDF → Deploy → Verify → Patch loop.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1089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280160"/>
                <a:gridCol w="1280160"/>
                <a:gridCol w="1828800"/>
                <a:gridCol w="19202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Capability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Polaris</a:t>
                      </a:r>
                    </a:p>
                  </a:txBody>
                  <a:tcPr marL="146304" marR="146304" marT="91440" marB="91440">
                    <a:solidFill>
                      <a:srgbClr val="4F46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MS Purview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AI Hub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Lakera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Guard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F5 AI Guardrails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(ex-CalypsoAI)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Cisco AI Defense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JetBrains Mono"/>
                        </a:rPr>
                        <a:t>(ex-Robust Intelligence)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Inter"/>
                        </a:rPr>
                        <a:t>Auto-synthesize policy from compliance PDF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Inter"/>
                        </a:rPr>
                        <a:t>Runtime inline enforcement on LLM I/O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✗*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Inter"/>
                        </a:rPr>
                        <a:t>Closed-loop continuous Red Team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Inter"/>
                        </a:rPr>
                        <a:t>Auto-generated compliance PDF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059669"/>
                          </a:solidFill>
                          <a:latin typeface="Inter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97706"/>
                          </a:solidFill>
                          <a:latin typeface="JetBrains Mono"/>
                        </a:rPr>
                        <a:t>partial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97706"/>
                          </a:solidFill>
                          <a:latin typeface="JetBrains Mono"/>
                        </a:rPr>
                        <a:t>partial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Inter"/>
                        </a:rPr>
                        <a:t>Open-source DPI substrate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59669"/>
                          </a:solidFill>
                          <a:latin typeface="JetBrains Mono"/>
                        </a:rPr>
                        <a:t>✓ (Veea LT)</a:t>
                      </a:r>
                    </a:p>
                  </a:txBody>
                  <a:tcPr marL="146304" marR="146304" marT="91440" marB="91440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200" b="1">
                          <a:solidFill>
                            <a:srgbClr val="DC2626"/>
                          </a:solidFill>
                          <a:latin typeface="Inter"/>
                        </a:rPr>
                        <a:t>✗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4360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Inter"/>
              </a:rPr>
              <a:t>* Microsoft Purview AI Hub: endpoint browser DLP + post-hoc audit only — not inline blocking on LLM outputs.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36208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Inter"/>
              </a:rPr>
              <a:t>None of the four funded incumbents combine auto-synthesis + runtime enforcement + closed-loop verification.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learn.microsoft.com/purview  ·  lakera.ai/lakera-guard  ·  f5.com/products/ai-guardrails  ·  cisco.com/products/security/ai-defense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BUSINESS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943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Per-policy subscription.</a:t>
            </a:r>
          </a:p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SOC 2-defensible.</a:t>
            </a:r>
          </a:p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&gt;95% gross margin.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5760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Tiered SaaS + per-inference overage. Self-hosted Lobster Trap option for compliance-strict tenants. Pricing is a draft model pending design-partner validation (Q3 2026 pilots).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675120" y="1371600"/>
          <a:ext cx="5029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64592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</a:rPr>
                        <a:t>Starter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JetBrains Mono"/>
                        </a:rPr>
                        <a:t>Pro</a:t>
                      </a:r>
                    </a:p>
                  </a:txBody>
                  <a:tcPr marL="146304" marR="146304" marT="91440" marB="91440">
                    <a:solidFill>
                      <a:srgbClr val="4F46E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Compliance packs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Unlimited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AI agents protected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Unlimited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Continuous Red Team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weekly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continuous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Drift detection (v0.2)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JetBrains Mono"/>
                        </a:rPr>
                        <a:t>—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JetBrains Mono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Slack / Linear alerts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JetBrains Mono"/>
                        </a:rPr>
                        <a:t>—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JetBrains Mono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Compliance PDF auto-gen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JetBrains Mono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JetBrains Mono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Self-hosted LT option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4A3B8"/>
                          </a:solidFill>
                          <a:latin typeface="JetBrains Mono"/>
                        </a:rPr>
                        <a:t>—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59669"/>
                          </a:solidFill>
                          <a:latin typeface="JetBrains Mono"/>
                        </a:rPr>
                        <a:t>✓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Audience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SOC 2 design partners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75569"/>
                          </a:solidFill>
                          <a:latin typeface="JetBrains Mono"/>
                        </a:rPr>
                        <a:t>Multi-policy enterprises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Inter"/>
                        </a:rPr>
                        <a:t>Price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46E5"/>
                          </a:solidFill>
                          <a:latin typeface="JetBrains Mono"/>
                        </a:rPr>
                        <a:t>$499 / mo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4F46E5"/>
                          </a:solidFill>
                          <a:latin typeface="JetBrains Mono"/>
                        </a:rPr>
                        <a:t>$2,499 / mo + $0.10/1k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2179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Marginal cost / policy ≈ $0.005 in Gemini compute (gemini-3.1-flash-lite). Gross margin &gt;95%.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ai.google.dev/gemini-api/docs/pricing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UNIT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0F172A"/>
                </a:solidFill>
                <a:latin typeface="Inter"/>
              </a:rPr>
              <a:t>Why the math works.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" y="2606040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2287" y="2606040"/>
            <a:ext cx="91440" cy="1874519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047" y="2926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11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END-TO-END  ·  60s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047" y="2606040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7047" y="2606040"/>
            <a:ext cx="91440" cy="187451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2807" y="2926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$0.005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807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59669"/>
                </a:solidFill>
                <a:latin typeface="JetBrains Mono"/>
              </a:rPr>
              <a:t>GEMINI COST / POLICY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1807" y="2606040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1807" y="2606040"/>
            <a:ext cx="91440" cy="187451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7567" y="2926080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3,000,000×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7567" y="38862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JetBrains Mono"/>
              </a:rPr>
              <a:t>COST COMPRESSION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287" y="4663439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2287" y="4663439"/>
            <a:ext cx="91440" cy="187451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047" y="4983479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$15K–$45K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047" y="59435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7C3AED"/>
                </a:solidFill>
                <a:latin typeface="JetBrains Mono"/>
              </a:rPr>
              <a:t>COMPLIANCE COUNSEL REPLACED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7047" y="4663439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7047" y="4663439"/>
            <a:ext cx="91440" cy="187451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2807" y="4983479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11 / 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2807" y="59435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EA5E9"/>
                </a:solidFill>
                <a:latin typeface="JetBrains Mono"/>
              </a:rPr>
              <a:t>LOBSTER TRAP CORPUS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61807" y="4663439"/>
            <a:ext cx="3657600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61807" y="4663439"/>
            <a:ext cx="91440" cy="187451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7567" y="4983479"/>
            <a:ext cx="31089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0F172A"/>
                </a:solidFill>
                <a:latin typeface="Inter"/>
              </a:rPr>
              <a:t>62 / 62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7567" y="59435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59669"/>
                </a:solidFill>
                <a:latin typeface="JetBrains Mono"/>
              </a:rPr>
              <a:t>UNIT TESTS 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Inter"/>
              </a:rPr>
              <a:t>Counsel-cost floor: Drata SOC 2 framework (3-wk observation + 2-5wk audit) × Clio's $378/hr 2026 median compliance rate × FTE ≈ $45K per policy cycle.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drata.com/grc-central/soc-2  ·  clio.com/resources/legal-trends  ·  ai.google.dev/gemini-api/docs/pricing  ·  github.com/seekerPrice/polaris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Where we go after the hackathon.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07" y="2651760"/>
            <a:ext cx="21945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8007" y="2651760"/>
            <a:ext cx="21945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" y="2907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887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next · pilots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887" y="3886200"/>
            <a:ext cx="18288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Per-agent declared_intent verdicts (v0.2)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SOC 2 design-partner pilot (3-5 enterprises)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Drift detection v0.1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8287" y="2651760"/>
            <a:ext cx="21945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58287" y="2651760"/>
            <a:ext cx="219456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1167" y="2907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1167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JetBrains Mono"/>
              </a:rPr>
              <a:t>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1167" y="3886200"/>
            <a:ext cx="18288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6366F1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HIPAA + PCI-DSS pack hardening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6366F1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Pricing GA (Starter + Pro)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6366F1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Slack / Linear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8567" y="2651760"/>
            <a:ext cx="21945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98567" y="2651760"/>
            <a:ext cx="219456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447" y="2907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1447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97706"/>
                </a:solidFill>
                <a:latin typeface="JetBrains Mono"/>
              </a:rPr>
              <a:t>SEED · $2M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447" y="3886200"/>
            <a:ext cx="18288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Multi-tenant SaaS architecture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D97706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$2M Seed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38847" y="2651760"/>
            <a:ext cx="21945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38847" y="2651760"/>
            <a:ext cx="219456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1727" y="2907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Q2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1727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6366F1"/>
                </a:solidFill>
                <a:latin typeface="JetBrains Mono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1727" y="3886200"/>
            <a:ext cx="18288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6366F1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EU AI Act Annex III templates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6366F1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25 paying tenants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79127" y="2651760"/>
            <a:ext cx="219456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79127" y="2651760"/>
            <a:ext cx="219456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62007" y="2907792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0F172A"/>
                </a:solidFill>
                <a:latin typeface="Inter"/>
              </a:rPr>
              <a:t>Q3 2027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62007" y="34290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62007" y="3886200"/>
            <a:ext cx="182880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Self-service Veea DevKit deploy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100" b="1">
                <a:solidFill>
                  <a:srgbClr val="4F46E5"/>
                </a:solidFill>
                <a:latin typeface="Inter"/>
              </a:rPr>
              <a:t>•  </a:t>
            </a:r>
            <a:r>
              <a:rPr sz="1100">
                <a:solidFill>
                  <a:srgbClr val="475569"/>
                </a:solidFill>
                <a:latin typeface="Inter"/>
              </a:rPr>
              <a:t>100+ tenants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98567" y="6126480"/>
            <a:ext cx="2194560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98567" y="634593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JetBrains Mono"/>
              </a:rPr>
              <a:t>FUNDRAISING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Sole engineer, with the</a:t>
            </a:r>
          </a:p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production playbook already shipped.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685800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91440" cy="3246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1463040" cy="14630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1463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246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Lucas — Loo Tan Yu Heng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7673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FOUNDER &amp; LEAD AI ENGINEER  ·  KUALA LUMPUR, 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4251960"/>
            <a:ext cx="4846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75569"/>
                </a:solidFill>
                <a:latin typeface="Inter"/>
              </a:rPr>
              <a:t>Lead AI Engineer at Hoppi (M) Sdn Bhd on Hotseller V5 — 25+ orchestrated Gemini agents, multi-tier model routing, semantic cache invalidation, taxonomy classifier across 51 categories × 100K+ multilingual records. Authored 26-entry LLM Production Anti-Pattern Registry. Polaris's 4-agent loop is the same pattern, applied to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017520"/>
            <a:ext cx="1417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32420" y="3383280"/>
            <a:ext cx="914400" cy="9144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2420" y="35204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4A3B8"/>
                </a:solidFill>
                <a:latin typeface="Inter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57200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JetBrains Mono"/>
              </a:rPr>
              <a:t>CISO 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534924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JetBrains Mono"/>
              </a:rPr>
              <a:t>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76072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recruiting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60" y="3017520"/>
            <a:ext cx="1417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32620" y="3383280"/>
            <a:ext cx="914400" cy="9144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2620" y="35204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4A3B8"/>
                </a:solidFill>
                <a:latin typeface="Inter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57200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JetBrains Mono"/>
              </a:rPr>
              <a:t>COMPLIANCE COUNSEL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34924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JetBrains Mono"/>
              </a:rP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76072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recruiting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81360" y="3017520"/>
            <a:ext cx="141732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32820" y="3383280"/>
            <a:ext cx="914400" cy="914400"/>
          </a:xfrm>
          <a:prstGeom prst="ellipse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2820" y="352044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>
                <a:solidFill>
                  <a:srgbClr val="94A3B8"/>
                </a:solidFill>
                <a:latin typeface="Inter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4572000"/>
            <a:ext cx="1143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JetBrains Mono"/>
              </a:rPr>
              <a:t>VEEA PARTNERSHIPS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534924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D97706"/>
                </a:solidFill>
                <a:latin typeface="JetBrains Mono"/>
              </a:rPr>
              <a:t>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5760720"/>
            <a:ext cx="1143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recruiting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github.com/seekerPrice/polaris  ·  linkedin.com/in/lucasloo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WHAT WE'RE ASKING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400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Hackathon-first.</a:t>
            </a:r>
          </a:p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Pilot deployments next.</a:t>
            </a:r>
          </a:p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$2M Seed in Q1 2027.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475569"/>
                </a:solidFill>
                <a:latin typeface="Inter"/>
              </a:rPr>
              <a:t>Today's ask is operational, not financial: deploy Polaris as a Veea DevKit pilot in your enterprise. Goal: 3–5 SOC 2 design partners in Q3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94A3B8"/>
                </a:solidFill>
                <a:latin typeface="JetBrains Mono"/>
              </a:rPr>
              <a:t>Future Seed allocation ($2M)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035040"/>
            <a:ext cx="2971800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0220" y="6126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</a:rPr>
              <a:t>50%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6035040"/>
            <a:ext cx="178308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7660" y="6126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</a:rPr>
              <a:t>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6035040"/>
            <a:ext cx="118872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23560" y="61264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JetBrains Mono"/>
              </a:rPr>
              <a:t>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1371600"/>
            <a:ext cx="4114800" cy="4572000"/>
          </a:xfrm>
          <a:prstGeom prst="rect">
            <a:avLst/>
          </a:prstGeom>
          <a:solidFill>
            <a:srgbClr val="EEF2FF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89520" y="1371600"/>
            <a:ext cx="411480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730A3"/>
                </a:solidFill>
                <a:latin typeface="JetBrains Mono"/>
              </a:rPr>
              <a:t>IDEAL PARTNER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2075688"/>
            <a:ext cx="457200" cy="228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242316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>
                <a:solidFill>
                  <a:srgbClr val="0F172A"/>
                </a:solidFill>
                <a:latin typeface="Inter"/>
              </a:rPr>
              <a:t>A Veea ecosystem deployment lead (Lobster Trap is the substrate).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>
                <a:solidFill>
                  <a:srgbClr val="0F172A"/>
                </a:solidFill>
                <a:latin typeface="Inter"/>
              </a:rPr>
              <a:t>A regulated-industry early-adopter (Fortune 2000 in healthcare or fintech).</a:t>
            </a:r>
          </a:p>
          <a:p>
            <a:pPr>
              <a:lnSpc>
                <a:spcPct val="145000"/>
              </a:lnSpc>
              <a:spcAft>
                <a:spcPts val="1000"/>
              </a:spcAft>
            </a:pPr>
            <a:r>
              <a:rPr sz="1400" b="1">
                <a:solidFill>
                  <a:srgbClr val="4F46E5"/>
                </a:solidFill>
                <a:latin typeface="Inter"/>
              </a:rPr>
              <a:t>•  </a:t>
            </a:r>
            <a:r>
              <a:rPr sz="1400">
                <a:solidFill>
                  <a:srgbClr val="0F172A"/>
                </a:solidFill>
                <a:latin typeface="Inter"/>
              </a:rPr>
              <a:t>A counsel-side advisor on EU AI Act high-risk classification (Annex III).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7D2FE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C7D2FE"/>
                </a:solidFill>
                <a:latin typeface="JetBrains Mono"/>
              </a:rPr>
              <a:t>VEEA TRUST TRACK  · 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45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0" b="1">
                <a:solidFill>
                  <a:srgbClr val="FFFFFF"/>
                </a:solidFill>
                <a:latin typeface="Inter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JetBrains Mono"/>
              </a:rPr>
              <a:t>polaris--lucaslootan.replit.app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C7D2FE"/>
                </a:solidFill>
                <a:latin typeface="JetBrains Mono"/>
              </a:rPr>
              <a:t>lucaslootan@gmail.com  ·  github.com/seekerPrice/polaris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C7D2FE"/>
                </a:solidFill>
                <a:latin typeface="Inter"/>
              </a:rPr>
              <a:t>Drop your SOC 2 PDF. Watch the firewall deploy in 11 seconds.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APPENDIX  · 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>
                <a:solidFill>
                  <a:srgbClr val="0F172A"/>
                </a:solidFill>
                <a:latin typeface="Inter"/>
              </a:rPr>
              <a:t>Try Polaris yourself.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475569"/>
                </a:solidFill>
                <a:latin typeface="Inter"/>
              </a:rPr>
              <a:t>Drop your SOC 2 PDF. Watch the firewall deploy in 11 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67047" y="2971800"/>
            <a:ext cx="36576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olaris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320040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4F46E5"/>
                </a:solidFill>
                <a:latin typeface="JetBrains Mono"/>
              </a:rPr>
              <a:t>polaris--lucaslootan.replit.app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APPENDIX  · 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0F172A"/>
                </a:solidFill>
                <a:latin typeface="Inter"/>
              </a:rPr>
              <a:t>The 4-agent + Lobster Trap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Compliance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READER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4F46E5"/>
                </a:solidFill>
                <a:latin typeface="JetBrains Mono"/>
              </a:rPr>
              <a:t>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59669"/>
                </a:solidFill>
                <a:latin typeface="JetBrains Mono"/>
              </a:rPr>
              <a:t>SYNTHESIZER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059669"/>
                </a:solidFill>
                <a:latin typeface="JetBrains Mono"/>
              </a:rPr>
              <a:t>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JetBrains Mono"/>
              </a:rPr>
              <a:t>policy.yaml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JetBrains Mono"/>
              </a:rPr>
              <a:t>+ schemas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97706"/>
                </a:solidFill>
                <a:latin typeface="JetBrains Mono"/>
              </a:rPr>
              <a:t>LOBSTER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97706"/>
                </a:solidFill>
                <a:latin typeface="JetBrains Mono"/>
              </a:rPr>
              <a:t>TRAP DPI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834640"/>
            <a:ext cx="1554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3017520"/>
            <a:ext cx="1554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Demo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9240" y="4663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4846320"/>
            <a:ext cx="1554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JetBrains Mono"/>
              </a:rPr>
              <a:t>MISMATCH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7C3AED"/>
                </a:solidFill>
                <a:latin typeface="JetBrains Mono"/>
              </a:rPr>
              <a:t>DETECTOR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663440"/>
            <a:ext cx="1554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4846320"/>
            <a:ext cx="1554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JetBrains Mono"/>
              </a:rPr>
              <a:t>RED TEAM</a:t>
            </a:r>
          </a:p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JetBrains Mono"/>
              </a:rPr>
              <a:t>AGENT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21408" y="3246120"/>
            <a:ext cx="329184" cy="36576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041648" y="3246120"/>
            <a:ext cx="329184" cy="36576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5961888" y="3246120"/>
            <a:ext cx="329184" cy="36576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882127" y="3246120"/>
            <a:ext cx="329184" cy="36576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9802367" y="3246120"/>
            <a:ext cx="329184" cy="365760"/>
          </a:xfrm>
          <a:prstGeom prst="rightArrow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6126480" y="4023360"/>
            <a:ext cx="2880360" cy="640080"/>
          </a:xfrm>
          <a:prstGeom prst="bentConnector3">
            <a:avLst/>
          </a:prstGeom>
          <a:ln w="2540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66560" y="4114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97706"/>
                </a:solidFill>
                <a:latin typeface="JetBrains Mono"/>
              </a:rPr>
              <a:t>audit log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03720" y="5143500"/>
            <a:ext cx="411480" cy="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166360" y="4023360"/>
            <a:ext cx="2926080" cy="640080"/>
          </a:xfrm>
          <a:prstGeom prst="bentConnector3">
            <a:avLst/>
          </a:prstGeom>
          <a:ln w="2540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14800" y="41148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C2626"/>
                </a:solidFill>
                <a:latin typeface="JetBrains Mono"/>
              </a:rPr>
              <a:t>regenerate on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94A3B8"/>
                </a:solidFill>
                <a:latin typeface="Inter"/>
              </a:rPr>
              <a:t>Mismatch Detector compares Lobster Trap's _lobstertrap declared-intent vs detected. Gaps fire the Red Team probe, which triggers Synthesizer regeneration. Full architecture in CLAUDE.md §3.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github.com/seekerPrice/polaris  ·  github.com/veeainc/lobstertrap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94A3B8"/>
                </a:solidFill>
                <a:latin typeface="JetBrains Mono"/>
              </a:rPr>
              <a:t>POLARIS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94A3B8"/>
                </a:solidFill>
                <a:latin typeface="JetBrains Mono"/>
              </a:rPr>
              <a:t>VEEA TRUST TRACK · TECHEX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F46E5"/>
                </a:solidFill>
                <a:latin typeface="JetBrains Mono"/>
              </a:rPr>
              <a:t>APPENDIX  ·  COMPLIANCE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52728"/>
            <a:ext cx="457200" cy="228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0F172A"/>
                </a:solidFill>
                <a:latin typeface="Inter"/>
              </a:rPr>
              <a:t>Every rule traces to a named, citable control.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97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572000"/>
                <a:gridCol w="2377440"/>
              </a:tblGrid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JetBrains Mono"/>
                        </a:rPr>
                        <a:t>Source control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JetBrains Mono"/>
                        </a:rPr>
                        <a:t>Polaris rule examples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JetBrains Mono"/>
                        </a:rPr>
                        <a:t>LT action</a:t>
                      </a:r>
                    </a:p>
                  </a:txBody>
                  <a:tcPr marL="146304" marR="146304" marT="91440" marB="91440">
                    <a:solidFill>
                      <a:srgbClr val="3730A3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SOC 2 CC6.1 (Logical access)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block_credential_exfiltration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2626"/>
                          </a:solidFill>
                          <a:latin typeface="JetBrains Mono"/>
                        </a:rPr>
                        <a:t>DENY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SOC 2 CC8.1 (Change management)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ApprovalGate consent before deploy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97706"/>
                          </a:solidFill>
                          <a:latin typeface="JetBrains Mono"/>
                        </a:rPr>
                        <a:t>HUMAN_REVIEW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HIPAA §164.312(a)(2) (Access control)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block_phi_unauthorized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2626"/>
                          </a:solidFill>
                          <a:latin typeface="JetBrains Mono"/>
                        </a:rPr>
                        <a:t>DENY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EU AI Act Art. 9 (Risk management)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quarantine_borderline_credential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7C3AED"/>
                          </a:solidFill>
                          <a:latin typeface="JetBrains Mono"/>
                        </a:rPr>
                        <a:t>QUARANTINE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OWASP LLM01 (Prompt Injection)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block_obfuscation_attempts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2626"/>
                          </a:solidFill>
                          <a:latin typeface="JetBrains Mono"/>
                        </a:rPr>
                        <a:t>DENY</a:t>
                      </a:r>
                    </a:p>
                  </a:txBody>
                  <a:tcPr marL="146304" marR="146304" marT="91440" marB="91440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OWASP LLM06 (Sensitive Info Disclosure)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  <a:latin typeface="JetBrains Mono"/>
                        </a:rPr>
                        <a:t>egress DPI scan rules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DC2626"/>
                          </a:solidFill>
                          <a:latin typeface="JetBrains Mono"/>
                        </a:rPr>
                        <a:t>LOG + DENY</a:t>
                      </a:r>
                    </a:p>
                  </a:txBody>
                  <a:tcPr marL="146304" marR="146304" marT="91440" marB="9144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430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JetBrains Mono"/>
              </a:rPr>
              <a:t>aicpa-cima.com (SOC 2 TSC)  ·  hhs.gov/hipaa · 45 CFR §164.312  ·  artificialintelligenceact.eu  ·  owasp.org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